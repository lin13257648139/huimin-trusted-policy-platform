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c75396f37f45a4" /><Relationship Type="http://schemas.openxmlformats.org/officeDocument/2006/relationships/extended-properties" Target="/docProps/app.xml" Id="R57c4a797f67742d6" /><Relationship Type="http://schemas.openxmlformats.org/officeDocument/2006/relationships/officeDocument" Target="/ppt/presentation.xml" Id="Red1b9860c98f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dc241c3f34c0d"/>
  </p:sldMasterIdLst>
  <p:notesMasterIdLst>
    <p:notesMasterId xmlns:r="http://schemas.openxmlformats.org/officeDocument/2006/relationships" r:id="Ref406308a2594aa0"/>
  </p:notesMasterIdLst>
  <p:sldIdLst>
    <p:sldId xmlns:r="http://schemas.openxmlformats.org/officeDocument/2006/relationships" id="256" r:id="Refed4894b1cc486a"/>
    <p:sldId xmlns:r="http://schemas.openxmlformats.org/officeDocument/2006/relationships" id="257" r:id="R212b71f5e3454ed6"/>
    <p:sldId xmlns:r="http://schemas.openxmlformats.org/officeDocument/2006/relationships" id="258" r:id="Rc610fa516b9c4b03"/>
    <p:sldId xmlns:r="http://schemas.openxmlformats.org/officeDocument/2006/relationships" id="259" r:id="Rbc290e1cdbd54e11"/>
    <p:sldId xmlns:r="http://schemas.openxmlformats.org/officeDocument/2006/relationships" id="260" r:id="R883843ef29474231"/>
    <p:sldId xmlns:r="http://schemas.openxmlformats.org/officeDocument/2006/relationships" id="261" r:id="Ra10a47ad0bad4713"/>
    <p:sldId xmlns:r="http://schemas.openxmlformats.org/officeDocument/2006/relationships" id="262" r:id="R7d9525b1972d400f"/>
    <p:sldId xmlns:r="http://schemas.openxmlformats.org/officeDocument/2006/relationships" id="263" r:id="R369270d130f44889"/>
    <p:sldId xmlns:r="http://schemas.openxmlformats.org/officeDocument/2006/relationships" id="264" r:id="R618a877c001e497c"/>
    <p:sldId xmlns:r="http://schemas.openxmlformats.org/officeDocument/2006/relationships" id="265" r:id="Re397e28f6e2d4090"/>
    <p:sldId xmlns:r="http://schemas.openxmlformats.org/officeDocument/2006/relationships" id="266" r:id="R5fa1ee739ca24039"/>
    <p:sldId xmlns:r="http://schemas.openxmlformats.org/officeDocument/2006/relationships" id="267" r:id="R1de0f09782d6467c"/>
    <p:sldId xmlns:r="http://schemas.openxmlformats.org/officeDocument/2006/relationships" id="268" r:id="Raee9118269344a22"/>
    <p:sldId xmlns:r="http://schemas.openxmlformats.org/officeDocument/2006/relationships" id="269" r:id="Rfbd95addda3a4061"/>
    <p:sldId xmlns:r="http://schemas.openxmlformats.org/officeDocument/2006/relationships" id="270" r:id="Rcb96e42342c240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5e142f2304fe9" /><Relationship Type="http://schemas.openxmlformats.org/officeDocument/2006/relationships/slideMaster" Target="/ppt/slideMasters/slideMaster1.xml" Id="R04adc241c3f34c0d" /><Relationship Type="http://schemas.openxmlformats.org/officeDocument/2006/relationships/notesMaster" Target="/ppt/notesMasters/notesMaster1.xml" Id="Ref406308a2594aa0" /><Relationship Type="http://schemas.openxmlformats.org/officeDocument/2006/relationships/presProps" Target="/ppt/presProps.xml" Id="R0229499131524d6b" /><Relationship Type="http://schemas.openxmlformats.org/officeDocument/2006/relationships/tableStyles" Target="/ppt/tableStyles.xml" Id="R4738d90f1cc140af" /><Relationship Type="http://schemas.openxmlformats.org/officeDocument/2006/relationships/slide" Target="/ppt/slides/slide1.xml" Id="Refed4894b1cc486a" /><Relationship Type="http://schemas.openxmlformats.org/officeDocument/2006/relationships/slide" Target="/ppt/slides/slide2.xml" Id="R212b71f5e3454ed6" /><Relationship Type="http://schemas.openxmlformats.org/officeDocument/2006/relationships/slide" Target="/ppt/slides/slide3.xml" Id="Rc610fa516b9c4b03" /><Relationship Type="http://schemas.openxmlformats.org/officeDocument/2006/relationships/slide" Target="/ppt/slides/slide4.xml" Id="Rbc290e1cdbd54e11" /><Relationship Type="http://schemas.openxmlformats.org/officeDocument/2006/relationships/slide" Target="/ppt/slides/slide5.xml" Id="R883843ef29474231" /><Relationship Type="http://schemas.openxmlformats.org/officeDocument/2006/relationships/slide" Target="/ppt/slides/slide6.xml" Id="Ra10a47ad0bad4713" /><Relationship Type="http://schemas.openxmlformats.org/officeDocument/2006/relationships/slide" Target="/ppt/slides/slide7.xml" Id="R7d9525b1972d400f" /><Relationship Type="http://schemas.openxmlformats.org/officeDocument/2006/relationships/slide" Target="/ppt/slides/slide8.xml" Id="R369270d130f44889" /><Relationship Type="http://schemas.openxmlformats.org/officeDocument/2006/relationships/slide" Target="/ppt/slides/slide9.xml" Id="R618a877c001e497c" /><Relationship Type="http://schemas.openxmlformats.org/officeDocument/2006/relationships/slide" Target="/ppt/slides/slide10.xml" Id="Re397e28f6e2d4090" /><Relationship Type="http://schemas.openxmlformats.org/officeDocument/2006/relationships/slide" Target="/ppt/slides/slide11.xml" Id="R5fa1ee739ca24039" /><Relationship Type="http://schemas.openxmlformats.org/officeDocument/2006/relationships/slide" Target="/ppt/slides/slide12.xml" Id="R1de0f09782d6467c" /><Relationship Type="http://schemas.openxmlformats.org/officeDocument/2006/relationships/slide" Target="/ppt/slides/slide13.xml" Id="Raee9118269344a22" /><Relationship Type="http://schemas.openxmlformats.org/officeDocument/2006/relationships/slide" Target="/ppt/slides/slide14.xml" Id="Rfbd95addda3a4061" /><Relationship Type="http://schemas.openxmlformats.org/officeDocument/2006/relationships/slide" Target="/ppt/slides/slide15.xml" Id="Rcb96e42342c240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95c45d7e3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c0dabaac64d8b" /><Relationship Type="http://schemas.openxmlformats.org/officeDocument/2006/relationships/notesMaster" Target="/ppt/notesMasters/notesMaster1.xml" Id="Ra656e327b405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105426fae94910" /><Relationship Type="http://schemas.openxmlformats.org/officeDocument/2006/relationships/notesMaster" Target="/ppt/notesMasters/notesMaster1.xml" Id="R0d2eb57e06e1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c2f5c10e84fe5" /><Relationship Type="http://schemas.openxmlformats.org/officeDocument/2006/relationships/notesMaster" Target="/ppt/notesMasters/notesMaster1.xml" Id="R2d43b7c309db4b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89c229c5224f31" /><Relationship Type="http://schemas.openxmlformats.org/officeDocument/2006/relationships/notesMaster" Target="/ppt/notesMasters/notesMaster1.xml" Id="R6508607530174c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f278299b424f49" /><Relationship Type="http://schemas.openxmlformats.org/officeDocument/2006/relationships/notesMaster" Target="/ppt/notesMasters/notesMaster1.xml" Id="R9865f355e7da49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85a8e66164175" /><Relationship Type="http://schemas.openxmlformats.org/officeDocument/2006/relationships/notesMaster" Target="/ppt/notesMasters/notesMaster1.xml" Id="R1fe4ab1a671f4f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34c82098d437f" /><Relationship Type="http://schemas.openxmlformats.org/officeDocument/2006/relationships/notesMaster" Target="/ppt/notesMasters/notesMaster1.xml" Id="Rc42eae83ba3c49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60146f918741b8" /><Relationship Type="http://schemas.openxmlformats.org/officeDocument/2006/relationships/notesMaster" Target="/ppt/notesMasters/notesMaster1.xml" Id="R39d61e62415347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230078100c4645" /><Relationship Type="http://schemas.openxmlformats.org/officeDocument/2006/relationships/notesMaster" Target="/ppt/notesMasters/notesMaster1.xml" Id="Rfb4cdfd22bb64c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5b3de40d964646" /><Relationship Type="http://schemas.openxmlformats.org/officeDocument/2006/relationships/notesMaster" Target="/ppt/notesMasters/notesMaster1.xml" Id="Rbe20af43fcc248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cacaf7314a46c0" /><Relationship Type="http://schemas.openxmlformats.org/officeDocument/2006/relationships/notesMaster" Target="/ppt/notesMasters/notesMaster1.xml" Id="R04b40995d0e245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eddb3255544cbe" /><Relationship Type="http://schemas.openxmlformats.org/officeDocument/2006/relationships/notesMaster" Target="/ppt/notesMasters/notesMaster1.xml" Id="R3d7d0f4746f348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0386ffe2ac42b5" /><Relationship Type="http://schemas.openxmlformats.org/officeDocument/2006/relationships/notesMaster" Target="/ppt/notesMasters/notesMaster1.xml" Id="R40108090d76747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d90aa39e5544b3" /><Relationship Type="http://schemas.openxmlformats.org/officeDocument/2006/relationships/notesMaster" Target="/ppt/notesMasters/notesMaster1.xml" Id="R2ee91961c9fb4e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4050f03a474d91" /><Relationship Type="http://schemas.openxmlformats.org/officeDocument/2006/relationships/notesMaster" Target="/ppt/notesMasters/notesMaster1.xml" Id="Rb0d665ceb00e48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开场：这是一个面向高风险政策服务的可信政策智能软件平台，社会救助是第一个深度验证场景。控制在20秒。数据均来自项目仓库。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问题不是缺一个聊天框，而是缺一条把政策版本、信息缺失、原文证据和人工责任连接起来的可信链路。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一句话技术定义：模型负责理解与候选抽取，规则负责确定性裁决，证据负责追溯，人工负责发布。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现场演示建议从场景验证中心载入案例A，再切案例B展示信息不足状态。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强调不是多个互不相干的演示页面：居民端输入的事实模型可直接形成经办摘要，并被治理侧回归集复用。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来源：data/evaluation/policy_compiler_real_report.json。11条来自官方政策原文，金标准由项目组构造，不称为独立专家评测。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消融结果：关闭二值保护，会迫使240个信息不足案例中的204个产生武断结果。来源 data/evaluation/ablation_report.json。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来源：evidence_quote_audit.json 与 retrieval_report.json。检索只有12条项目内问题，必须明确样本量，不能外推真实使用效果。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来源：active_question_report.json。240例为项目内合成场景，用于证明算法机制，不是用户试点。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来源：active_question_report.json、high_risk_safety_report.json、http_concurrency_report.json、ai_pipeline_report.json、pytest。画像与检索是项目内构造小样本，不能外推真人效果；并发测试是本机回环，不是生产压测。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来源：ablation_report.json 与 high_risk_safety_report.json。高风险集是项目内构建，不称为独立红队。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现场可快速展示：居民端→证据查询→治理影响分析→可信度中心。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强调供应链和复现：依赖锁定、漏洞审计、SBOM、Git基线和自动化CI都不是答辩文字，而是仓库内真实文件。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这一页主动说明边界。模型实测已完成；真人试点、第三方干净机验收和团队视频仍必须由真实参与者完成。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结束语：惠民智导不是一个政策聊天机器人，而是一套能把生成式AI风险约束进工程流程的可信软件方法。随后进入六条固定演示路径。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5b33ea79b40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b5c39fcc3a4cb0" /><Relationship Type="http://schemas.openxmlformats.org/officeDocument/2006/relationships/slideLayout" Target="/ppt/slideLayouts/slideLayout1.xml" Id="Ra23042d800a147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042d800a1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f36731c94424a" /><Relationship Type="http://schemas.openxmlformats.org/officeDocument/2006/relationships/notesSlide" Target="/ppt/notesSlides/notesSlide1.xml" Id="R209cf98c29ea49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f3bab27a546f6" /><Relationship Type="http://schemas.openxmlformats.org/officeDocument/2006/relationships/notesSlide" Target="/ppt/notesSlides/notesSlide2.xml" Id="Rbd17bbc0770f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9c5553c964364" /><Relationship Type="http://schemas.openxmlformats.org/officeDocument/2006/relationships/notesSlide" Target="/ppt/notesSlides/notesSlide3.xml" Id="R42180fc826fd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1eaf28d3e45dc" /><Relationship Type="http://schemas.openxmlformats.org/officeDocument/2006/relationships/notesSlide" Target="/ppt/notesSlides/notesSlide4.xml" Id="R2ae7840cc4214c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0a4a462be4ee3" /><Relationship Type="http://schemas.openxmlformats.org/officeDocument/2006/relationships/notesSlide" Target="/ppt/notesSlides/notesSlide5.xml" Id="R3c9384e2ab814f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8ed129c504d8f" /><Relationship Type="http://schemas.openxmlformats.org/officeDocument/2006/relationships/notesSlide" Target="/ppt/notesSlides/notesSlide6.xml" Id="R91c1f05a8cf4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e091922ec46eb" /><Relationship Type="http://schemas.openxmlformats.org/officeDocument/2006/relationships/notesSlide" Target="/ppt/notesSlides/notesSlide7.xml" Id="R84e97bde89e94c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67ceba6cd43ec" /><Relationship Type="http://schemas.openxmlformats.org/officeDocument/2006/relationships/notesSlide" Target="/ppt/notesSlides/notesSlide8.xml" Id="R3968686006ec41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8f238bd834a90" /><Relationship Type="http://schemas.openxmlformats.org/officeDocument/2006/relationships/notesSlide" Target="/ppt/notesSlides/notesSlide9.xml" Id="Raa913f1105ea48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1fdf0f03546ea" /><Relationship Type="http://schemas.openxmlformats.org/officeDocument/2006/relationships/chart" Target="/ppt/slides/charts/chart1.xml" Id="R8feed6a7d5f74c97" /><Relationship Type="http://schemas.openxmlformats.org/officeDocument/2006/relationships/notesSlide" Target="/ppt/notesSlides/notesSlide10.xml" Id="Rbddadbc161654b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a972b845a4f9d" /><Relationship Type="http://schemas.openxmlformats.org/officeDocument/2006/relationships/notesSlide" Target="/ppt/notesSlides/notesSlide11.xml" Id="R7f53a67fa99843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4faa5d7548c3" /><Relationship Type="http://schemas.openxmlformats.org/officeDocument/2006/relationships/notesSlide" Target="/ppt/notesSlides/notesSlide12.xml" Id="R048044aafe004e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6c5d5d3234d5f" /><Relationship Type="http://schemas.openxmlformats.org/officeDocument/2006/relationships/notesSlide" Target="/ppt/notesSlides/notesSlide13.xml" Id="Ra901648cb49040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e71b93ad24c7d" /><Relationship Type="http://schemas.openxmlformats.org/officeDocument/2006/relationships/notesSlide" Target="/ppt/notesSlides/notesSlide14.xml" Id="R60c6298502f84c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7cc81e10e42a9" /><Relationship Type="http://schemas.openxmlformats.org/officeDocument/2006/relationships/notesSlide" Target="/ppt/notesSlides/notesSlide15.xml" Id="Rbe1de47b1b0a44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平均问题数</c:v>
          </c:tx>
          <c:spPr>
            <a:solidFill xmlns:a="http://schemas.openxmlformats.org/drawingml/2006/main">
              <a:srgbClr val="0D9488"/>
            </a:solidFill>
          </c:spPr>
          <c:cat>
            <c:strRef>
              <c:f>'Chart Data'!$A$2:$A$3</c:f>
              <c:strCache>
                <c:ptCount val="2"/>
                <c:pt idx="0">
                  <c:v>固定完整表单</c:v>
                </c:pt>
                <c:pt idx="1">
                  <c:v>主动信息增益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</c:v>
                </c:pt>
                <c:pt idx="1">
                  <c:v>8.25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33869-F398-49FE-AACE-4C2939F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5240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95969-157D-49EB-B73A-69F75A35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52387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F4525-2F8C-4BB9-A5A4-71E9A0B7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C89E9-D14A-4250-BA69-AF37A25A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惠民智导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21895-76E2-4AB4-9DED-11DE15AA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DEFE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DEFEA"/>
                </a:solidFill>
                <a:latin typeface="Arial"/>
                <a:ea typeface="Arial"/>
                <a:cs typeface="Arial"/>
              </a:rPr>
              <a:t>可信政策智能软件平台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4DB39-4455-4A3D-8A29-AE630A4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C7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7D4"/>
                </a:solidFill>
                <a:latin typeface="Arial"/>
                <a:ea typeface="Arial"/>
                <a:cs typeface="Arial"/>
              </a:rPr>
              <a:t>模型理解 · 规则裁决 · 原文举证 · 人工发布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3017F-E71B-45D8-A854-B9BAA064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D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AI + 软件创新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F73D3-9A90-4930-B7E5-D0ECC0C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D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社会救助深度验证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97DA4-EE6E-41AA-B278-2759F0D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2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EB2C1"/>
                </a:solidFill>
                <a:latin typeface="Arial"/>
                <a:ea typeface="Arial"/>
                <a:cs typeface="Arial"/>
              </a:rPr>
              <a:t>策马奔腾  ·  广州软件学院  ·  V0.7.1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3CB44-5679-425A-AE43-DEDD36A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98A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F98A6"/>
                </a:solidFill>
                <a:latin typeface="Arial"/>
                <a:ea typeface="Arial"/>
                <a:cs typeface="Arial"/>
              </a:rPr>
              <a:t>队长 林琪东    队员 罗晓蓝    RTX 4060 单机本地运行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B57DB-D0AD-4997-B38D-43D950A4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可信不是口号，而是每个结论都能回到证据。</a:t>
            </a:r>
          </a:p>
        </p:txBody>
      </p:sp>
    </p:spTree>
    <p:extLst>
      <p:ext uri="{BB962C8B-B14F-4D97-AF65-F5344CB8AC3E}">
        <p14:creationId xmlns:p14="http://schemas.microsoft.com/office/powerpoint/2010/main" val="18435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80AC9-7274-4A3D-9287-3B87300B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6843-8BAE-4AE8-9EB2-844B254F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1F8D4-2FDA-40D0-B724-EE779F9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政策服务不是“搜到答案”这么简单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D2540-F3E2-4B4A-8FEE-5DD61ED6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FFA73-C1F6-4CEA-904D-4A6ECEA8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FEDB6-6205-4335-A70E-E4C059D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55C5F-8BC4-41D1-B86F-D1BD10A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32E3E-DEEE-41AE-A51B-4453CFF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0573D-4CD9-4AA7-B32C-9C472EE0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03E82-FE88-4E25-B352-8C9F2200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群众端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41D53-A292-431A-9692-A8635B7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术语难懂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条件繁多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材料不清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不知道当前适用哪一版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EAA5F-7DE2-4FAC-A812-9F6B006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46788-B222-447D-99BE-ED430122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3DE5F-56A4-4476-B00F-88D2BA7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经办端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06089-643A-4CEC-8C73-FA3E97C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重复问询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信息缺失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口径更新不一致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错误传播成本高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F1BFE-16D4-4D34-A387-BA91174C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5AD3F-B2F3-4D45-BE5D-7ABFAE9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F7FDD-3D95-4FFB-83EC-7651C0B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治理端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CDBF7-40C1-4DB8-BDA8-89EB997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政策转规则慢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变更影响不可见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新旧版本易混用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模型可能自信编造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B9942-1026-4C46-949E-7F93CDB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核心矛盾：政策持续变化，但导办必须可解释、可追溯、可拒答。</a:t>
            </a:r>
          </a:p>
        </p:txBody>
      </p:sp>
    </p:spTree>
    <p:extLst>
      <p:ext uri="{BB962C8B-B14F-4D97-AF65-F5344CB8AC3E}">
        <p14:creationId xmlns:p14="http://schemas.microsoft.com/office/powerpoint/2010/main" val="529710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549C2-83A9-4A3F-805E-DA2390E1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73DD7-97A5-4A59-91A5-175EEBB9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E219A-FAC0-4225-ACB7-DF78B6E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我们把导办升级为可信政策智能内核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B0145-6084-4993-9FBB-752DF8D3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1C0D1-35BF-4978-87A1-79EAE9AF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17291-E8E9-493C-BA98-DD5E89E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765B6-B1D8-40B3-BB68-283ABD66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3895B-5579-4E35-A19A-EEA01C7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受约束神经符号架构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322A9-0D82-4779-8107-202E835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让模型进入高价值理解环节，但不让模型越权裁决。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FFBAF-46D7-4389-936E-AC8ECAE1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44206-EA84-460D-92C0-BC8FD3E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31592-504C-4DF4-AFB2-5E665846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模型理解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C913B-35C8-44F4-8A94-6CBDF12E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意图、事实、条款候选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34103-4E46-4392-AD52-C5AEA658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6ECE6-FFF1-480F-8993-4F2EE14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88A35-AAC8-467F-85F0-2D017DD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4CED6-352A-4925-B734-1BA53067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规则裁决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67ED6-734C-4313-9119-97C311C8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时态规则 + 三值逻辑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CE8C3-2328-42C3-A9B3-4DC5C79E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943B3-CDB4-4575-9F83-0F69513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11FEC-B0F0-42C2-AC5B-81EACDA5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F8828-07DD-435D-9860-E69215AE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原文举证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786BF-5761-475B-AC81-A97D09BB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 + 来源哈希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744FB-D7F1-4680-A4DA-D966C32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80AEC-A503-4FBF-82E8-AEE1CFA0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95BBE-03A1-4FBF-B0A7-70F21249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BEDDC-A25B-4A0B-A0BA-7571125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50A358-6A3A-4B07-A259-13CE0D1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影响分析 + 双审门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CDE13-127F-4E35-A4AD-E06E4893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95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失败时：拒答 / 降级 / 转人工，不静默放行</a:t>
            </a:r>
          </a:p>
        </p:txBody>
      </p:sp>
    </p:spTree>
    <p:extLst>
      <p:ext uri="{BB962C8B-B14F-4D97-AF65-F5344CB8AC3E}">
        <p14:creationId xmlns:p14="http://schemas.microsoft.com/office/powerpoint/2010/main" val="2144320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A10C0-F283-4F11-9C98-82513DA2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49ED2-5797-4388-912B-551D33DE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A9D68-C429-4BB1-A3EF-CF131425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一次咨询如何形成可信导办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445A2-459B-458E-95E1-B4329C4D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44564-5BBE-4CBE-ABB9-67B03DA0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5A70D-562F-4ADC-BB3F-B3611D9F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CE634-4749-40AF-B43A-909C5223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74A03-3764-41C1-8EF2-2DD4139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C16B2-8813-4F0A-8581-BD8480D8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CFE6B-5AB5-4224-B264-D3A5C3BE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表达诉求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21B4A-D2D8-4F24-9D72-C0265B8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自然语言 / 示例家庭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173CB-0AB0-4BC2-86DC-E8BE8A46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76BF9-7C2F-483C-9F71-0D685DC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D15E0-C8A6-4209-AA57-832C5625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0FB25-F7C0-4478-A655-0071B9B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主动补问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A14C1-B4A6-4DCA-AD6B-890AFCCA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只问最有信息量的问题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66499-5401-4592-BBA8-F833C58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25B86-8DD0-4301-8E4E-39306ED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B51CC-BF0D-480D-967B-67F43891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DF388-BF6D-4212-A2B6-61A61DB5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资格预判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B9B2B-6F07-428D-A4D2-F4A0D36A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符合 / 可能 / 不足 / 人工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486BC-AB27-4404-A314-29BD38BB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A3A1D-2E87-47E5-87C7-DA90ADF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29A89-DB99-4AA3-A94A-3DE30D1A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ECF29-5723-488E-95F3-96A1707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原文举证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14DE0-DE0E-49FD-8FAB-6BC222E0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逐字引文、版本、来源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48AA5-1947-482D-B23A-8608F2E1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6D823-0FE7-43E9-8389-FEE68227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1ED53-6499-416F-8BF9-4E8DFFB7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6850C-D887-412D-A5A0-D003C52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行动建议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B594A-76AA-4BD9-BA0F-A74C8437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材料、机构、下一步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23562-18C2-4F68-B1A6-E4FBF77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5C48AE-9950-4FB9-ACB3-0B6BB3E8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428A2D-D4C6-455A-AD4C-6CD623A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是合法答案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5ED3C2-92BC-4BCF-ACB4-3152CAC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用户可以不知道或跳过。缺失值不会被偷偷改写为“不符合”。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4EEF42-D527-48C2-B568-F1D391B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31752E-C8A7-4CEA-8C73-17F6B5C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3EE9CA-96C9-4FC0-883E-09F5277F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系统从不宣布“已批准”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3F0C7D-E3B2-408F-8A2D-1B9B6B01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输出是导办建议，不替代行政机关审批；高风险场景转人工。</a:t>
            </a:r>
          </a:p>
        </p:txBody>
      </p:sp>
    </p:spTree>
    <p:extLst>
      <p:ext uri="{BB962C8B-B14F-4D97-AF65-F5344CB8AC3E}">
        <p14:creationId xmlns:p14="http://schemas.microsoft.com/office/powerpoint/2010/main" val="10642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971C9-825A-4EC8-B7D7-D2F96F70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A0026-6D8A-48DB-BBC6-810FB4C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AE666-831B-45BF-82F1-317AB06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一套内核支撑居民、经办与治理三端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A684C-E301-47AC-8456-C4463167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274C2-DD90-4F0A-A4E3-5193D717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6BD41-B472-4A12-A724-83F3B62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4704D-6E4A-430D-9463-7972BE3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6E082-980C-4327-BC5B-AC5CF519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0C680-9A61-4088-8EDB-9E7BBD1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33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8D01E-B4F8-4F2A-A3A2-889965C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居民端  ·  经办工作台  ·  治理工作台  ·  场景验证中心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E1575-9D75-4040-9346-16E7CE7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53D48-9232-4F8B-A92D-0F1CBB71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AI 理解层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A6485-DB38-4700-ADCA-666658A5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意图分类  ·  字段抽取  ·  OCR  ·  Policy2Rule 候选编译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4BB30-7B0B-4E8F-8980-D258F29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FD181-DAF2-4B61-871C-F76CE900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推理与证据层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4B12A-E5D1-4C6D-9830-FCF9360D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时态规则  ·  三值逻辑  ·  主动提问  ·  BM25/向量接口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FF7AE-88BD-41AE-BEC1-296799DE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A8DCF-37D5-4051-A285-0CF889AA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可信安全层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2962A-4456-412A-889E-DD9BB815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独立校验器  ·  注入防护  ·  冲突检测  ·  人工发布门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A1264-6FCF-417C-BA93-7A8E94CB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797EA-D5D2-4212-96EC-FD415D8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38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工程层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BE042-949E-4FA5-9931-03162551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FastAPI  ·  SQLite  ·  审计日志  ·  CI  ·  离线降级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218B3-FCF1-456E-AACA-03CB951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876300" cy="39433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同一事实模型</a:t>
            </a:r>
          </a:p>
        </p:txBody>
      </p:sp>
    </p:spTree>
    <p:extLst>
      <p:ext uri="{BB962C8B-B14F-4D97-AF65-F5344CB8AC3E}">
        <p14:creationId xmlns:p14="http://schemas.microsoft.com/office/powerpoint/2010/main" val="782701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162B61-32F0-480D-9AEE-6C49098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B62E8-D6AD-4A6D-BCC7-2C7C842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18386-32CB-48A7-9E97-38963140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Policy2Rule：模型产出候选，不拥有发布权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10CD-493C-4502-9A6E-F8F0391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39F3-8A42-4F5F-A9B0-B5AFEF84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466C0-109C-4E3B-BF43-389F5404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6F8C0-CA88-400D-9B07-1C8FE04A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A0A65-EBA3-4FD5-9824-907ACF27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DF9D0-CEEE-455C-95E7-E13C5772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B3B8A-9A6A-4001-855C-8358F6D4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E8A91-7EB0-4D61-85E0-74013B6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官方网页 / PDF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本地快照 + SHA-256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D83A3-EA50-4E1F-9F61-E5E6C6F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C730D-686B-4D68-8EEB-45F3F405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C2266-81E8-4932-9EB4-8DD6E740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7BB96-FD40-4B09-AD17-8B7D440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候选抽取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EFCC4-C7E7-423D-BD85-1F939D95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对象、字段、运算符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阈值、例外、有效期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5F463-61A9-4458-8C01-AAD23399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39A23-884F-415F-AD36-A731F6F3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CADAB-EB37-4AD2-82FB-FF38913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30AD6-B29F-4678-99A2-22ECA9BC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五重校验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81837-CA37-433C-A011-799154CC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Schema / 白名单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类型 / 原文子串 / 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0C7C4-8546-48BA-942B-2A13354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1CF70-1B2A-4F68-B5C7-94676B0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1E4D4-23D2-4652-8ABC-5DBCF4E6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76137-2A98-4994-8CDE-24BAF67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影响分析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1B9F1-6924-4599-9C6A-A7CCBD92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冻结案例批量回放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状态变化与冲突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F9CFE-0916-4CFB-AD62-FD066F02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0A319-5D50-481F-B920-9E88823F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22BD1-D053-4390-9CE8-99A43A56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E9A67-0043-43F4-9F29-AF40C12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人工双审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CA1303-0294-41A1-8F5B-3336990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批准后才进入正式库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模型无 publish 权限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506538-C863-4493-9DB5-5AFB0415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950C6-1F1D-4257-A8D6-FA1C7B65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官方条款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CF3C0C-963A-41FF-8889-19758CA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11 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51333-4225-49B4-96BD-AA0DB50F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真实原文 · 项目组构造金标准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354FCD-5072-49AE-9C22-9F1CDD43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9A0267-23B9-43EF-8857-ACC3406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逐字锚定率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DE9EE-C979-4C59-9935-50F74CE8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1D2CD7-E7CB-4CA1-9E77-3D52A4A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候选引文是原文连续子串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19AA43-42BA-4D05-93BD-D41F02AC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618A6B-F71E-463A-BEA3-0A368BC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条件字段 F1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5AA096-4110-4340-93C8-8C129A1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0.727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0F8900-340E-4055-9343-8CE385CA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复杂条件仍是重点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2319C1-AFBA-46B7-8C55-C57B218C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FE632A-287D-4A3F-BF68-05DD43F6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参数 F1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67DA91-8CFB-4114-B0BB-15F0037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0.500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FF3A09-8851-44D2-AE67-4D669CAF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如实披露，不掩盖短板</a:t>
            </a:r>
          </a:p>
        </p:txBody>
      </p:sp>
    </p:spTree>
    <p:extLst>
      <p:ext uri="{BB962C8B-B14F-4D97-AF65-F5344CB8AC3E}">
        <p14:creationId xmlns:p14="http://schemas.microsoft.com/office/powerpoint/2010/main" val="1021770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E4B70D-C159-4ADA-A887-B7D562E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B82A0-9A6F-4EAF-A51F-88AABCD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B6975-2146-4299-BF71-F64EF765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时态规则 + 三值逻辑：防止最危险的“想当然”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BC7FF-B415-42A0-A3F8-59AB995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86C16-E899-496E-B3C6-09651FA5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DF853-CB1D-485D-983E-6F9CF46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4E570-D935-4C08-B321-E014F37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570AE-9626-4A08-AC6B-0BB05614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同一问题，不同日期可能有不同答案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97683-27DC-4438-8E6A-6682E163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79AE7-C617-4B76-B2C7-BCBED94F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E3441-BAF8-48EE-9FF9-407F467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2094D-AB98-4993-B07E-53ACA946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3A610-5FAD-44C9-AC1D-C3809375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旧版生效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DAEB8-AA61-4D59-9227-E3A6D4CF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版本切换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E28C7-B9CC-4509-A4D2-8207302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查询日期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99867-6820-406F-924A-E8BE75A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66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8D236-4D2B-43D9-BD0B-F3F4DFA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C3D94-B6CE-4144-B9FF-01B3F43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检索先过滤，再召回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2641E-0112-4C67-9BC4-55D3A7F8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24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先按地区与查询日期筛选有效版本；过期、未生效和跨地区片段进入排除列表，并解释“为什么没采用”。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74728-44E4-4634-82D7-FD570DB5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3557B-980E-4CA2-AE61-144A2089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FAF08-D727-47B6-829D-AC52E25A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E19DF-1183-4EBE-BDF1-3FD20729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8DEC1-DAD5-46FA-9578-C95FCB83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25447-057D-44C6-9DA3-F99AADBB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条件明确不满足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0EB746-5DB4-4D21-B7C9-90CA90A8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A6310-9AAA-4BEF-B639-C4FD758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34927-C57E-4D2F-9C87-7386ED5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关键事实缺失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06B60-0C7B-4AA4-B1FF-4760088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不等于 FALSE</a:t>
            </a:r>
          </a:p>
        </p:txBody>
      </p:sp>
    </p:spTree>
    <p:extLst>
      <p:ext uri="{BB962C8B-B14F-4D97-AF65-F5344CB8AC3E}">
        <p14:creationId xmlns:p14="http://schemas.microsoft.com/office/powerpoint/2010/main" val="2078300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C86B5F-9D61-4900-9806-EC9543A6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B6751-91F5-4FEF-8B9E-E54C6BAB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AFC73-236A-471D-ABE6-8B25B600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每个结论都能回到逐字政策原文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61ACC-F932-4D91-BD96-92EBB0A7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D1319-510B-4C24-8A7A-50816D4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932DD-B1E5-4B8F-A143-F5A6715E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1E37F-6014-434E-86C0-F4F9FD73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A68EE-B7CC-41B2-9F7E-CF26FD8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33E9B-C0F3-462A-92D1-428A4A3B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导办结论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BA2A5-7F87-4762-9CDA-2667A7E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可能符合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需补充家庭收入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3F5B7-E60F-425E-B90C-D84C7C88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D12B9-BF29-42C1-8EB6-FFD518A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BBB5-3DA4-4AAC-B165-C564460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规则条件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A4560-80B5-438A-87F1-C5840D4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income_per_capita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&lt;= local_standard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9893A-1859-4143-BD3D-53D3C87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5C3FF-D88C-44B3-B036-1FFC0CB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9FA2F-B87D-4653-9C19-6F8F978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逐字引文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0F621-F6B2-43E3-8359-438D8C08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原文连续子串</a:t>
            </a:r>
          </a:p>
          <a:p xmlns:a="http://schemas.openxmlformats.org/drawingml/2006/main">
            <a:pPr algn="ctr">
              <a:defRPr sz="105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不允许模型改写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96599-E56F-4A6F-8AC8-53D4AAAB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2F703-0DF0-4BF7-A811-098E6E9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3B7A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848B2-04C0-4A72-B3A6-386B69C3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来源快照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BDB08-AB2B-4F01-B126-587AA23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URL / 文件定位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发布日期 / 地区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9B0ED-B1B2-489E-AF95-DF75D5DB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D31B8-5D26-4F50-A4EE-7F33E5E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EA1BF-D91F-43C6-A016-821A5F60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完整性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02047-8BD9-4FB5-B18E-94C80D7C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SHA-256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审计时间 / 复核状态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0B5FE-D735-48B6-B006-32792BB2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211A0-1992-4EB9-8884-AA59FE9E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证据逐字审计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2384A-980D-4EE4-8835-2E2EA8B2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43C5D-22AD-416B-ADC2-6C4D682C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本地快照子串核验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82B90-9D7E-44AC-889A-7025EDF1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3B335-4E6C-460B-85AC-10FEF56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检索 Recall@3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75A54-77E5-4029-8AD7-C081C7D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F3A904-D5CB-4F1A-83AF-1BA9DF6B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12 条项目内冻结问题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55CDE9-7CFF-45D2-9F58-08D579EC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18362-7719-42FB-831F-5E2BDB7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C1C5EB-CBC8-449D-9EE3-C83954CE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0.958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FE186-9182-4008-8439-702C5A2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数据性质已明确标注</a:t>
            </a:r>
          </a:p>
        </p:txBody>
      </p:sp>
    </p:spTree>
    <p:extLst>
      <p:ext uri="{BB962C8B-B14F-4D97-AF65-F5344CB8AC3E}">
        <p14:creationId xmlns:p14="http://schemas.microsoft.com/office/powerpoint/2010/main" val="572969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8E794A-452A-4FBD-A983-CD6108D5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8CF06-1A4D-4756-B345-B37DB2AD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C952C-DF84-468F-AA38-62635D41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主动信息增益提问：少问，但不漏问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5174D-6D26-418A-A792-73A5636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2030C-0C83-4616-8C03-6E79E976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9D9D3-3727-40E6-B2F7-76554926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4DA3D-57B1-4BED-9E57-A97AE31D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1C210-652E-4E67-B67C-8EDC30E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1C65F-3300-4682-9A0A-C3BBE99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6200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6526E-CCFB-4541-BE69-3ED284B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传统表单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F0F12-93E6-47FF-966A-95F5AD5F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按固定顺序询问 17 个字段</a:t>
            </a:r>
          </a:p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用户负担高，且很多问题与当前事项无关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C1DAE-E596-4D9E-828C-7E75924E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DF31C-526E-413B-BBBF-6DBC8A79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6200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AE275-39ED-45EB-81D0-21B2571B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3F21E-BD73-46C3-84D1-07533D6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计算缺失事实对事项状态的区分能力</a:t>
            </a:r>
          </a:p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优先问最能减少不确定性的问题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69EE7-2F4C-4FE3-83C1-05E3798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信息增益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0FA59-9336-4567-91B7-E71B356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57DFA-73B3-4DC3-977D-3574CF84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风险优先级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87C41-9274-4444-B77F-05A0D16B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BDABB-E2FD-4C46-8593-DE15E61E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88383-EC00-43B7-8BBD-F7C1982C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E6959-1CC1-4782-9D83-259527C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家庭人口与共同生活成员？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D283C-10BD-44C0-B768-57E58432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事项区分度高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1A1D0-9217-44A0-B4DD-5166082D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54C92-1B12-4BEE-B35F-6CA255FA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71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19F54-E185-4A40-992A-6CA825A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当前收入信息是否明确？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92595-4EFE-40D4-8368-428A3BC5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直接影响多项规则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80E8D-79D0-4648-974F-F0176958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43208D-431D-48A6-A89D-E40D8016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E7E9F6-A242-4CDB-9982-920B620C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是否存在紧急风险？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3B85B-E0D3-4D7D-9ADC-1B0E4878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高风险优先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F9524-2D37-4370-903B-362A825C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0535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B37278-EFB5-44D6-9173-77EC8DB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57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228D1-0549-4E09-BBD5-18F74C2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006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无法确认？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16417D-A64F-4038-A460-87DC8DF0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00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保留 UNKNOWN，可跳过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6D64C7-6C95-4AC8-835E-4AAD3C2B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388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240 个合成案例 · 状态一致性 100% · 紧急风险漏检 0</a:t>
            </a:r>
          </a:p>
        </p:txBody>
      </p:sp>
    </p:spTree>
    <p:extLst>
      <p:ext uri="{BB962C8B-B14F-4D97-AF65-F5344CB8AC3E}">
        <p14:creationId xmlns:p14="http://schemas.microsoft.com/office/powerpoint/2010/main" val="987719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86852-EC17-408F-A29F-21FE598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59492-13F7-43BB-9E5E-A168641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6186-7BD5-485D-96A6-450FCD0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可复现实验：效率、安全与工程同时量化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DE7E8-714C-4268-A0D3-BABD9BC3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AADEB-90CB-4508-BDFD-C361190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52552-F1C0-45A4-A965-1F7B35E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CF9D8-89E0-469C-A796-E6EB8D97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eed6a7d5f74c9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039A8-8593-4F74-BC32-DA6E2F76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平均问题数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02580-87D1-4320-B1C1-DCDB2A9A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AF260-399F-4903-A461-1437B812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提问减少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50505-D259-48E9-B7CA-6CB52390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51.47%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5D249-89D9-4241-9356-29D8BAF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相对 17 字段完整表单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87CA0-2652-42E3-9192-DE3194C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3EC3C-838B-4A39-AB51-1696541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安全回归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D3676-9F5C-4CCA-B111-C97BB302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55233-AFDC-4D36-9C36-FB102769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项目内高风险集通过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733D6-446E-4D83-ACB4-ECE2CE5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A53CC-7719-44B1-AB42-72B76A2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并发 30 · P95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1307B-7C75-466F-845D-A1F914B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439.8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797D1-B2B5-4AC8-B9CE-34811AFC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本机回环 Uvicorn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CA92E-0E94-4A50-9919-332AECF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DADF4-E1F7-4748-99E5-4E1616D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自动测试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0CC47-F8AD-4876-BDD0-6F14FC3C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64 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41192-F6D5-4649-9C3D-1AA0D49B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全量 Pytest 当前通过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6D672-2C75-42DC-8CD9-FFD0208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04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Qwen3画像 F1 1.000 · P95 2.592 s</a:t>
            </a:r>
          </a:p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混合检索 P95 430 ms · 12/12真实路由</a:t>
            </a:r>
          </a:p>
        </p:txBody>
      </p:sp>
    </p:spTree>
    <p:extLst>
      <p:ext uri="{BB962C8B-B14F-4D97-AF65-F5344CB8AC3E}">
        <p14:creationId xmlns:p14="http://schemas.microsoft.com/office/powerpoint/2010/main" val="5812944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1DBD18-AA38-4117-983E-42085A8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39AD9-5F23-4244-B034-3E74425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E1796-FC02-4A1C-9B8E-BE6388C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八组消融证明：可信机制不是界面装饰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554BA-9EEF-4BAF-8614-F4E74F2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F8E37-2DE9-4D04-B0C1-E687904C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40A4B-B2B9-4C07-9CF4-F9EE8D3A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82A96-E4ED-4013-B12D-4729090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FD516-5D2E-4B22-8530-A2EC86A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EBD9F-A946-46E3-BC13-97B9648C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F1435-A3C0-438D-8D81-8CC6A94F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三值逻辑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65FA3-F703-4CDC-8348-982BFEE5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204 / 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BB3E8-4BBB-4A59-9F98-BC50F39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若强制二值化，将产生武断结果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0DB0A-8701-447A-916D-A67EB1F4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C178B-A098-45C5-B472-10C1706D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7EA9C-A15C-4150-8CA2-F7FC8C62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证据门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EB151-2319-4DAC-8A9E-62E7409C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4320 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54535-880F-497A-BAAA-694FB5DC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关闭后条件失去可追溯证据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EA450-95DD-46A3-9197-1EA62643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4A4ED-E5C8-41D5-8832-3FAE864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48A3D-4F9E-472F-BBF3-24A64C10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主动提问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AD199-CEEE-445D-B6C3-6D407AC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+2.75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BDF0A-66D4-4D18-A4EC-151E8B3C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固定提问平均额外问题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06991-BF50-4E82-89C6-9943B180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1986C-10F0-4E96-A3FD-219497FF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F085D-33DB-4C69-B242-F989FF6A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人工发布门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5C3C2-94E5-4A67-9E72-EA6EE0E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11 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1910E-DDE8-4DA9-86CF-870A4BCA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自动发布候选全部被阻断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8F6CB-62F0-47D1-8BE1-5A18C27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100 条高风险回归覆盖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7D7C0-A8B3-44D4-A346-8856394D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保留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1EB66A-E7CD-42B7-8722-82BCD99D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时间边界 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E454AF-96D6-4987-8F8F-6ACAA5D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越权问题 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8E01B-4000-4E6F-8D12-B395F075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提示注入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E5D8FC-423D-45F7-99FB-45336FF3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发布门 15</a:t>
            </a:r>
          </a:p>
        </p:txBody>
      </p:sp>
    </p:spTree>
    <p:extLst>
      <p:ext uri="{BB962C8B-B14F-4D97-AF65-F5344CB8AC3E}">
        <p14:creationId xmlns:p14="http://schemas.microsoft.com/office/powerpoint/2010/main" val="10102631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7384CE-27EE-4252-8D88-11A1178E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DEA20-53E3-4045-BA98-1AD77426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91B69-8632-49B5-A4DA-ED45C842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从居民咨询到政策治理的完整软件闭环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63EE8-06F6-43BB-87A5-9F31A208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D9174-6B37-443B-8C57-BE4B334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B636B-E21A-4B19-BC12-10652E9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356B3-2D3A-4A4A-B6B8-3B210083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E1CEC-13E2-4693-AD9D-A16E3963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0E39F-C358-4A0A-A4B6-930A236F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675B9-F969-4179-991F-1DAF78BD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居民智能导办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6B5EF-FB12-4024-A4F1-446D168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诉求解析 · 主动补问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资格预判 · 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B5ACD-86A9-43AF-91F6-BE16D94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B7F08-6201-4741-BECA-49A8DB05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9A052-A9D6-474A-8B20-2932EE2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政策证据检索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FB7E6-97B7-4D1B-93A4-80ED808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地区/日期过滤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 · 排除解释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9BBF3-C64C-4202-889C-3B77156F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EC8A6-5129-4E3C-81D5-1556C4FB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60D7C-9889-418D-9ACF-499FC0A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材料智能预检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3F5BA-5CC6-4AA7-8E72-4174BF1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OCR 候选字段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质量提醒 · 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051C9-EFD3-4C0B-8AE8-3A09722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450CF-A26E-4479-AF96-50AECD4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98ED0-A1EB-4A4A-8143-01BE2B98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经办工作台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57A4B-CF4F-40D7-B950-B1DE2C9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五事项摘要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缺失信息 · 风险标记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57A50-7FF4-496B-9A91-9EC0B9EF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2EEEE-108B-4799-9FBB-1A559B9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F9FD8-6119-4D57-BB99-0F809220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治理工作台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8EA7E-49A6-4B47-A1D7-12E26BCA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候选规则 · 版本差异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影响分析 · 双审发布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13640-70E8-4D5A-9A34-411D633F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0EFEA-8A97-440D-825F-81C0581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F5AB6-D7ED-4DE1-95DE-B535E825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场景验证中心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851DD5-C2AC-4A4C-98C4-BD1C5B58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A–F 六条路径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现场稳定复现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81EA5-C09F-426A-8628-02B8E8F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8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一套事实模型 · 一条证据链 · 一套回归体系</a:t>
            </a:r>
          </a:p>
        </p:txBody>
      </p:sp>
    </p:spTree>
    <p:extLst>
      <p:ext uri="{BB962C8B-B14F-4D97-AF65-F5344CB8AC3E}">
        <p14:creationId xmlns:p14="http://schemas.microsoft.com/office/powerpoint/2010/main" val="12657517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96186C-5540-449A-87F2-CBAC953A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7A3E2-B192-428E-AB6E-A1EB706B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8569A-2F58-4900-8CFC-585D465B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单机可运行、可测试、可审计、可打包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8D9EF-D2DB-4C50-9118-AE7BCAFE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69035-7502-47C8-BA80-5CF1ED5D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42B2E-2B26-4A66-AF40-8ADF2D3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1EF80-755D-4B93-BBA8-994F9EF6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C4709-BE5B-4214-929C-CF2C787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0327-B229-4A12-BA72-2F3A542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32046-0E1F-4BCF-AE49-56F526D0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0B124-92D0-41D1-9D1F-40FDDAD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Python 3.12 +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427B0-6265-418B-AD7E-5D0AD95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8783F-54D0-4D07-8C48-5686685D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Qwen3 双模型 100% 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2B2F0-92B0-4FFF-B090-EB6CBE5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52659-522C-45F2-AB95-F02EC544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PowerShell 一键启停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1AC31-E3B3-409F-BE3D-825F79B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29C1B-5AEC-416B-9803-413DA4ED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模型不可用显式降级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4427A-8E77-4187-91F2-4AC1D8DC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3FEE9-35C7-44AE-A002-14F17155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0B56E-5EF3-4249-B652-4D6EED06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9EFCD-62C2-463E-B213-942D7BE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64 项自动测试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D2ED5-DD04-46CC-9DE2-7387A87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3989D-19B8-46B3-A5D5-2625719B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100 条高风险回归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45078-D7E3-4155-AE60-54F51813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35115-E3D3-4F0F-89BE-B80E8D1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前端路由契约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BF843-9397-4724-84EB-94DD2C8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64A9D-250A-43AC-A6F9-EC80B8F4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六条演示路径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D0047-6AFD-4CAE-A35A-4297A8BC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B9542-7D24-4859-9CA3-3EC0CE6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供应链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92B1D-8F4D-4FFC-9D12-32317902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9C8230-6498-4F43-B5BB-8A1C6265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46 项锁定依赖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D8C49E-0620-4914-B3A6-B6DD239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10750-4C7D-46C2-AF8F-EF04C99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SBOM 软件物料清单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A3E780-7031-4FCA-937B-E97ABC98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DD224-568C-4966-86E2-F0409F0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已知漏洞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834E1A-2B72-474A-A457-A4D71B9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98FB4-9E94-4CA4-B837-7DD1D17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数据与源码哈希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7AE6D4-D7A4-434D-9DD5-6C4A499D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87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reproduce_phase12.ps1  →  重跑评测、清单、SBOM 与并发测试</a:t>
            </a:r>
          </a:p>
        </p:txBody>
      </p:sp>
    </p:spTree>
    <p:extLst>
      <p:ext uri="{BB962C8B-B14F-4D97-AF65-F5344CB8AC3E}">
        <p14:creationId xmlns:p14="http://schemas.microsoft.com/office/powerpoint/2010/main" val="1661467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E2DDF-7C56-4FC6-98DF-5F2FAA6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1EACC-D41F-4640-89CE-6E28FD3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HONESTY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09EA-F3C4-4CF8-9501-4058DDEE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我们明确知道：什么已经证明，什么尚未证明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9F36D-9C2F-4A24-B4A8-CC2A9288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05DC6-4F9C-4564-AEBC-F17BC25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6E725-29AE-4488-BB34-9874BC5F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F335A-0DE7-49DA-A291-EA5B6025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44220-8098-413D-8BAB-83287E0E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0607A-E4BB-4DCC-AC48-A352FDC6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8AD5A-0099-4029-8D57-6AFE3912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已经可验证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F9AE7-A09B-418E-8541-65BDF85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686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可信软件闭环可运行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规则与证据逐字追溯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Qwen3双模型GPU冻结评测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高风险输出被工程护栏阻断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单机并发与供应链状态可检查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5CEA2-458C-48A6-B614-1C954538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22344-6C76-4490-A6AF-0721F405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EB696-DD37-4ABE-A096-F34F792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仍需真人完成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CF524-F81B-4D89-ACFA-2007B502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686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真实参与者可用性试点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另一台干净电脑安装验收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3–5 分钟真人演示视频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盖章、签字与指定平台提交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最终平台信息与下载链接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61EB9-4D2F-4A15-8598-9F7A4EEA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不把合成数据写成真人数据，不把导办写成审批，不把内部评测写成第三方认证。</a:t>
            </a:r>
          </a:p>
        </p:txBody>
      </p:sp>
    </p:spTree>
    <p:extLst>
      <p:ext uri="{BB962C8B-B14F-4D97-AF65-F5344CB8AC3E}">
        <p14:creationId xmlns:p14="http://schemas.microsoft.com/office/powerpoint/2010/main" val="477755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321C9-0E38-405C-89B1-7C032F0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1C432-DD67-4724-AED9-4DEE8E9B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惠民智导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C7DFF-145D-47C8-B2E7-CEEFC64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把高风险政策智能做成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可追溯、可拒答、可回归的软件。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3B335-49EA-4536-9366-BF61BE8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技术主张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10859-6FA0-4780-964E-9AB18C9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7D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7D4"/>
                </a:solidFill>
                <a:latin typeface="Arial"/>
                <a:ea typeface="Arial"/>
                <a:cs typeface="Arial"/>
              </a:rPr>
              <a:t>受约束神经符号架构  /  时态规则  /  三值逻辑  /  原文证据链  /  人工发布门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205E2-D6B6-4CA5-A245-F04BCE31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现在进入系统演示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18511-5CCB-443D-9F1E-AEC63926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864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332555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2026-10-03T07:09:05.4640000Z</dcterms:created>
  <dcterms:modified xsi:type="dcterms:W3CDTF">2026-10-03T07:09:05.4650000Z</dcterms:modified>
</coreProperties>
</file>