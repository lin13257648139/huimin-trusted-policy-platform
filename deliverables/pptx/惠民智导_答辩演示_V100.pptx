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4e8b32c1c945c6" /><Relationship Type="http://schemas.openxmlformats.org/officeDocument/2006/relationships/extended-properties" Target="/docProps/app.xml" Id="R0272b4a039b34f2e" /><Relationship Type="http://schemas.openxmlformats.org/officeDocument/2006/relationships/officeDocument" Target="/ppt/presentation.xml" Id="R9151d697324a48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74b3eec3c549b3"/>
  </p:sldMasterIdLst>
  <p:notesMasterIdLst>
    <p:notesMasterId xmlns:r="http://schemas.openxmlformats.org/officeDocument/2006/relationships" r:id="R525f351cca0e4830"/>
  </p:notesMasterIdLst>
  <p:sldIdLst>
    <p:sldId xmlns:r="http://schemas.openxmlformats.org/officeDocument/2006/relationships" id="256" r:id="Rba0a3d75983c4000"/>
    <p:sldId xmlns:r="http://schemas.openxmlformats.org/officeDocument/2006/relationships" id="257" r:id="R9c9784090694479f"/>
    <p:sldId xmlns:r="http://schemas.openxmlformats.org/officeDocument/2006/relationships" id="258" r:id="R84a7c4a67ad54bf6"/>
    <p:sldId xmlns:r="http://schemas.openxmlformats.org/officeDocument/2006/relationships" id="259" r:id="R22e1ebfc718949d3"/>
    <p:sldId xmlns:r="http://schemas.openxmlformats.org/officeDocument/2006/relationships" id="260" r:id="R547c22cdec49406f"/>
    <p:sldId xmlns:r="http://schemas.openxmlformats.org/officeDocument/2006/relationships" id="261" r:id="R3c22db38abd14176"/>
    <p:sldId xmlns:r="http://schemas.openxmlformats.org/officeDocument/2006/relationships" id="262" r:id="R931545f5419a42af"/>
    <p:sldId xmlns:r="http://schemas.openxmlformats.org/officeDocument/2006/relationships" id="263" r:id="R11338176571646ca"/>
    <p:sldId xmlns:r="http://schemas.openxmlformats.org/officeDocument/2006/relationships" id="264" r:id="R4ef1fe284ed04b7b"/>
    <p:sldId xmlns:r="http://schemas.openxmlformats.org/officeDocument/2006/relationships" id="265" r:id="R147098bb6c3f4d72"/>
    <p:sldId xmlns:r="http://schemas.openxmlformats.org/officeDocument/2006/relationships" id="266" r:id="R9d3d89b693b54598"/>
    <p:sldId xmlns:r="http://schemas.openxmlformats.org/officeDocument/2006/relationships" id="267" r:id="R11057b600d20466a"/>
    <p:sldId xmlns:r="http://schemas.openxmlformats.org/officeDocument/2006/relationships" id="268" r:id="R5ce7b296bfb34cc5"/>
    <p:sldId xmlns:r="http://schemas.openxmlformats.org/officeDocument/2006/relationships" id="269" r:id="R54bb987f03ae4d75"/>
    <p:sldId xmlns:r="http://schemas.openxmlformats.org/officeDocument/2006/relationships" id="270" r:id="R9631ed47efb048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31d4d27fea4db2" /><Relationship Type="http://schemas.openxmlformats.org/officeDocument/2006/relationships/slideMaster" Target="/ppt/slideMasters/slideMaster1.xml" Id="Rc674b3eec3c549b3" /><Relationship Type="http://schemas.openxmlformats.org/officeDocument/2006/relationships/notesMaster" Target="/ppt/notesMasters/notesMaster1.xml" Id="R525f351cca0e4830" /><Relationship Type="http://schemas.openxmlformats.org/officeDocument/2006/relationships/presProps" Target="/ppt/presProps.xml" Id="Rd08458413f2b40b1" /><Relationship Type="http://schemas.openxmlformats.org/officeDocument/2006/relationships/tableStyles" Target="/ppt/tableStyles.xml" Id="Rd3f0020da2d84d9a" /><Relationship Type="http://schemas.openxmlformats.org/officeDocument/2006/relationships/slide" Target="/ppt/slides/slide1.xml" Id="Rba0a3d75983c4000" /><Relationship Type="http://schemas.openxmlformats.org/officeDocument/2006/relationships/slide" Target="/ppt/slides/slide2.xml" Id="R9c9784090694479f" /><Relationship Type="http://schemas.openxmlformats.org/officeDocument/2006/relationships/slide" Target="/ppt/slides/slide3.xml" Id="R84a7c4a67ad54bf6" /><Relationship Type="http://schemas.openxmlformats.org/officeDocument/2006/relationships/slide" Target="/ppt/slides/slide4.xml" Id="R22e1ebfc718949d3" /><Relationship Type="http://schemas.openxmlformats.org/officeDocument/2006/relationships/slide" Target="/ppt/slides/slide5.xml" Id="R547c22cdec49406f" /><Relationship Type="http://schemas.openxmlformats.org/officeDocument/2006/relationships/slide" Target="/ppt/slides/slide6.xml" Id="R3c22db38abd14176" /><Relationship Type="http://schemas.openxmlformats.org/officeDocument/2006/relationships/slide" Target="/ppt/slides/slide7.xml" Id="R931545f5419a42af" /><Relationship Type="http://schemas.openxmlformats.org/officeDocument/2006/relationships/slide" Target="/ppt/slides/slide8.xml" Id="R11338176571646ca" /><Relationship Type="http://schemas.openxmlformats.org/officeDocument/2006/relationships/slide" Target="/ppt/slides/slide9.xml" Id="R4ef1fe284ed04b7b" /><Relationship Type="http://schemas.openxmlformats.org/officeDocument/2006/relationships/slide" Target="/ppt/slides/slide10.xml" Id="R147098bb6c3f4d72" /><Relationship Type="http://schemas.openxmlformats.org/officeDocument/2006/relationships/slide" Target="/ppt/slides/slide11.xml" Id="R9d3d89b693b54598" /><Relationship Type="http://schemas.openxmlformats.org/officeDocument/2006/relationships/slide" Target="/ppt/slides/slide12.xml" Id="R11057b600d20466a" /><Relationship Type="http://schemas.openxmlformats.org/officeDocument/2006/relationships/slide" Target="/ppt/slides/slide13.xml" Id="R5ce7b296bfb34cc5" /><Relationship Type="http://schemas.openxmlformats.org/officeDocument/2006/relationships/slide" Target="/ppt/slides/slide14.xml" Id="R54bb987f03ae4d75" /><Relationship Type="http://schemas.openxmlformats.org/officeDocument/2006/relationships/slide" Target="/ppt/slides/slide15.xml" Id="R9631ed47efb048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de19fd342243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88372a4789419f" /><Relationship Type="http://schemas.openxmlformats.org/officeDocument/2006/relationships/notesMaster" Target="/ppt/notesMasters/notesMaster1.xml" Id="R963d4f842e1143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40f039d81b490e" /><Relationship Type="http://schemas.openxmlformats.org/officeDocument/2006/relationships/notesMaster" Target="/ppt/notesMasters/notesMaster1.xml" Id="R9fd48101426c4b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9dd1ef38564fc3" /><Relationship Type="http://schemas.openxmlformats.org/officeDocument/2006/relationships/notesMaster" Target="/ppt/notesMasters/notesMaster1.xml" Id="R54131e8d77004d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6e151811c145fe" /><Relationship Type="http://schemas.openxmlformats.org/officeDocument/2006/relationships/notesMaster" Target="/ppt/notesMasters/notesMaster1.xml" Id="R944c11341bbb47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0e4a6f8b3f40c7" /><Relationship Type="http://schemas.openxmlformats.org/officeDocument/2006/relationships/notesMaster" Target="/ppt/notesMasters/notesMaster1.xml" Id="Rb30d33b5db9e4c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ce1b0438ba47a7" /><Relationship Type="http://schemas.openxmlformats.org/officeDocument/2006/relationships/notesMaster" Target="/ppt/notesMasters/notesMaster1.xml" Id="R679106ef762e47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470b0374f54aa0" /><Relationship Type="http://schemas.openxmlformats.org/officeDocument/2006/relationships/notesMaster" Target="/ppt/notesMasters/notesMaster1.xml" Id="R8fed7be9c30542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8b902061344d4f" /><Relationship Type="http://schemas.openxmlformats.org/officeDocument/2006/relationships/notesMaster" Target="/ppt/notesMasters/notesMaster1.xml" Id="Rabab02367af947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fe8fdf74704f4d" /><Relationship Type="http://schemas.openxmlformats.org/officeDocument/2006/relationships/notesMaster" Target="/ppt/notesMasters/notesMaster1.xml" Id="Rc1580cfa4b804e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46f3e451ee4b7e" /><Relationship Type="http://schemas.openxmlformats.org/officeDocument/2006/relationships/notesMaster" Target="/ppt/notesMasters/notesMaster1.xml" Id="R3b3992ff865644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e9997f30024f88" /><Relationship Type="http://schemas.openxmlformats.org/officeDocument/2006/relationships/notesMaster" Target="/ppt/notesMasters/notesMaster1.xml" Id="R01d1585915ac4c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ae1de561044497" /><Relationship Type="http://schemas.openxmlformats.org/officeDocument/2006/relationships/notesMaster" Target="/ppt/notesMasters/notesMaster1.xml" Id="Rd4f99487cf4145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706c5b94344e4e" /><Relationship Type="http://schemas.openxmlformats.org/officeDocument/2006/relationships/notesMaster" Target="/ppt/notesMasters/notesMaster1.xml" Id="R86abd602dadf4e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c6053ee20d4834" /><Relationship Type="http://schemas.openxmlformats.org/officeDocument/2006/relationships/notesMaster" Target="/ppt/notesMasters/notesMaster1.xml" Id="R9dedef4b9c1642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cb31adcbe14f33" /><Relationship Type="http://schemas.openxmlformats.org/officeDocument/2006/relationships/notesMaster" Target="/ppt/notesMasters/notesMaster1.xml" Id="Rc37da5838b1b4f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开场：这是一个面向高风险政策服务的可信政策智能软件平台，社会救助是第一个深度验证场景。控制在20秒。数据均来自项目仓库。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问题不是缺一个聊天框，而是缺一条把政策版本、信息缺失、原文证据和人工责任连接起来的可信链路。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一句话技术定义：模型负责理解与候选抽取，规则负责确定性裁决，证据负责追溯，人工负责发布。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现场演示建议从场景验证中心载入案例A，再切案例B展示信息不足状态。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强调不是多个互不相干的演示页面：居民端输入的事实模型可直接形成经办摘要，并被治理侧回归集复用。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来源：data/evaluation/policy_compiler_real_report.json。11条来自官方政策原文，金标准由项目组构造，不称为独立专家评测。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消融结果：关闭二值保护，会迫使240个信息不足案例中的204个产生武断结果。来源 data/evaluation/ablation_report.json。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来源：evidence_quote_audit.json 与 retrieval_report.json。检索只有12条项目内问题，必须明确样本量，不能外推真实使用效果。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来源：active_question_report.json。240例为项目内合成场景，用于证明算法机制，不是用户试点。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来源：active_question_report.json、high_risk_safety_report.json、http_concurrency_report.json、ai_pipeline_report.json、pytest。画像与检索是项目内构造小样本，不能外推真人效果；并发测试是本机回环，不是生产压测。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来源：ablation_report.json 与 high_risk_safety_report.json。高风险集是项目内构建，不称为独立红队。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现场可快速展示：居民端→证据查询→治理影响分析→可信度中心。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强调供应链和复现：依赖锁定、漏洞审计、SBOM、Git基线和自动化CI都不是答辩文字，而是仓库内真实文件。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这一页主动说明边界。模型实测与演示视频已完成；真人试点、基层使用反馈和第三方干净机验收仍必须由真实参与者完成。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结束语：惠民智导不是一个政策聊天机器人，而是一套能把生成式AI风险约束进工程流程的可信软件方法。随后进入六条固定演示路径。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1a68d070045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831064dd254f03" /><Relationship Type="http://schemas.openxmlformats.org/officeDocument/2006/relationships/slideLayout" Target="/ppt/slideLayouts/slideLayout1.xml" Id="R90058fc8518f43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58fc8518f43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5ce9c64c842a0" /><Relationship Type="http://schemas.openxmlformats.org/officeDocument/2006/relationships/notesSlide" Target="/ppt/notesSlides/notesSlide1.xml" Id="Rc39b832a1d1449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d22736a0b412a" /><Relationship Type="http://schemas.openxmlformats.org/officeDocument/2006/relationships/notesSlide" Target="/ppt/notesSlides/notesSlide2.xml" Id="R5c91d558122142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9a11a87ee460f" /><Relationship Type="http://schemas.openxmlformats.org/officeDocument/2006/relationships/notesSlide" Target="/ppt/notesSlides/notesSlide3.xml" Id="Rb15e8bf27e1d4e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c71ed26fd46b1" /><Relationship Type="http://schemas.openxmlformats.org/officeDocument/2006/relationships/notesSlide" Target="/ppt/notesSlides/notesSlide4.xml" Id="R00072520d4a441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71c2e85db477c" /><Relationship Type="http://schemas.openxmlformats.org/officeDocument/2006/relationships/notesSlide" Target="/ppt/notesSlides/notesSlide5.xml" Id="Re2b574f87c0544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b6afaa6654eff" /><Relationship Type="http://schemas.openxmlformats.org/officeDocument/2006/relationships/notesSlide" Target="/ppt/notesSlides/notesSlide6.xml" Id="R4467f8ebc38741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244b7c7b44e68" /><Relationship Type="http://schemas.openxmlformats.org/officeDocument/2006/relationships/notesSlide" Target="/ppt/notesSlides/notesSlide7.xml" Id="R46ecec22fe6748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1b521bfa04d33" /><Relationship Type="http://schemas.openxmlformats.org/officeDocument/2006/relationships/notesSlide" Target="/ppt/notesSlides/notesSlide8.xml" Id="Rf946a0715f1a44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71e6d798d41fb" /><Relationship Type="http://schemas.openxmlformats.org/officeDocument/2006/relationships/notesSlide" Target="/ppt/notesSlides/notesSlide9.xml" Id="Reb1e242f294c4f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5987aba7b439c" /><Relationship Type="http://schemas.openxmlformats.org/officeDocument/2006/relationships/chart" Target="/ppt/slides/charts/chart1.xml" Id="R4b18f627d13c4352" /><Relationship Type="http://schemas.openxmlformats.org/officeDocument/2006/relationships/notesSlide" Target="/ppt/notesSlides/notesSlide10.xml" Id="R30892e982fd948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277dab98f4d64" /><Relationship Type="http://schemas.openxmlformats.org/officeDocument/2006/relationships/notesSlide" Target="/ppt/notesSlides/notesSlide11.xml" Id="R372d2cd626ad48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a6b6dbcd14d70" /><Relationship Type="http://schemas.openxmlformats.org/officeDocument/2006/relationships/notesSlide" Target="/ppt/notesSlides/notesSlide12.xml" Id="R9462884349d844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1209d20964c21" /><Relationship Type="http://schemas.openxmlformats.org/officeDocument/2006/relationships/notesSlide" Target="/ppt/notesSlides/notesSlide13.xml" Id="Rc0b4303dc9a448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ccf136a44437a" /><Relationship Type="http://schemas.openxmlformats.org/officeDocument/2006/relationships/notesSlide" Target="/ppt/notesSlides/notesSlide14.xml" Id="R3e0e86ef104049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2307b27da41e2" /><Relationship Type="http://schemas.openxmlformats.org/officeDocument/2006/relationships/notesSlide" Target="/ppt/notesSlides/notesSlide15.xml" Id="Ra06fa199776f456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平均问题数</c:v>
          </c:tx>
          <c:spPr>
            <a:solidFill xmlns:a="http://schemas.openxmlformats.org/drawingml/2006/main">
              <a:srgbClr val="0D9488"/>
            </a:solidFill>
          </c:spPr>
          <c:cat>
            <c:strRef>
              <c:f>'Chart Data'!$A$2:$A$3</c:f>
              <c:strCache>
                <c:ptCount val="2"/>
                <c:pt idx="0">
                  <c:v>固定完整表单</c:v>
                </c:pt>
                <c:pt idx="1">
                  <c:v>主动信息增益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17</c:v>
                </c:pt>
                <c:pt idx="1">
                  <c:v>8.25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D060D-753B-4A10-9D59-3F02BD2B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5240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DF093-CD27-41B0-B282-AE1D967D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523875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E3A80-0819-4624-85F6-64668601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E2032-0889-4EBF-9179-6D3788E3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惠民智导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59A87-B943-4954-94C3-229B6D65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DEFE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DEFEA"/>
                </a:solidFill>
                <a:latin typeface="Arial"/>
                <a:ea typeface="Arial"/>
                <a:cs typeface="Arial"/>
              </a:rPr>
              <a:t>可信政策智能软件平台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2CC12-A263-44D7-82A2-C2B9DC4C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7C7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C7D4"/>
                </a:solidFill>
                <a:latin typeface="Arial"/>
                <a:ea typeface="Arial"/>
                <a:cs typeface="Arial"/>
              </a:rPr>
              <a:t>模型理解 · 规则裁决 · 原文举证 · 人工发布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264E8-EC55-4108-B97D-08796794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D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2E6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2E6D8"/>
                </a:solidFill>
                <a:latin typeface="Arial"/>
                <a:ea typeface="Arial"/>
                <a:cs typeface="Arial"/>
              </a:rPr>
              <a:t>AI + 软件创新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3A48F-2CD3-42A0-8FBC-A6CE074E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D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2E6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2E6D8"/>
                </a:solidFill>
                <a:latin typeface="Arial"/>
                <a:ea typeface="Arial"/>
                <a:cs typeface="Arial"/>
              </a:rPr>
              <a:t>社会救助深度验证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8C52A-F17D-47CA-8E02-1CC1E53D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B2C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EB2C1"/>
                </a:solidFill>
                <a:latin typeface="Arial"/>
                <a:ea typeface="Arial"/>
                <a:cs typeface="Arial"/>
              </a:rPr>
              <a:t>策马奔腾  ·  V1.0.0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F2707-2A3A-429C-9B86-6B402A50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98A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F98A6"/>
                </a:solidFill>
                <a:latin typeface="Arial"/>
                <a:ea typeface="Arial"/>
                <a:cs typeface="Arial"/>
              </a:rPr>
              <a:t>RTX 4060 单机本地运行  ·  数据与边界可追溯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AD8E6-5005-41B1-A0B4-98D65E57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6255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可信不是口号，而是每个结论都能回到证据。</a:t>
            </a:r>
          </a:p>
        </p:txBody>
      </p:sp>
    </p:spTree>
    <p:extLst>
      <p:ext uri="{BB962C8B-B14F-4D97-AF65-F5344CB8AC3E}">
        <p14:creationId xmlns:p14="http://schemas.microsoft.com/office/powerpoint/2010/main" val="966060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ECA91-63BB-45B3-A867-6C075E0C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6A6C0-E872-4582-BBBB-530F301C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B1232-433B-44AB-A587-FCF448D6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政策服务不是“搜到答案”这么简单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82FEF-509D-4958-BB5B-48C120EA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5A8AE-0F0C-431B-B75D-8A712E1D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D7D92-984C-41C7-84DF-BCA00FA3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D7A65-4A4B-42A6-80EA-06E315D0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E0768-37EC-4B3E-872E-993CBD9D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33750" cy="33909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EA13D-A6A6-4487-8926-3C11D977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3390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9548A-5EF0-430B-BC21-56E7C676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群众端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57C3C-791F-4136-8D68-97254BBF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9146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术语难懂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条件繁多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材料不清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不知道当前适用哪一版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A2C4A-256F-4FB5-9C38-0A67FBF4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3333750" cy="33909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A50DD-1A9A-4361-8898-076CDE52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76200" cy="3390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50252-8DE7-4CBD-A7D8-F5299103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240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经办端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C034B-DD26-4D51-BE42-A1E268B5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05050"/>
            <a:ext cx="29146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重复问询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信息缺失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口径更新不一致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错误传播成本高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81E77-2EFA-4CA3-96CD-B6E36062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33909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20B1F-1A34-4312-92DA-E8DBEB7F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76200" cy="3390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73DC6-B892-430D-A297-FBF2A94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240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治理端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C6079-AF6A-4EA0-97A4-72781855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05050"/>
            <a:ext cx="29146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政策转规则慢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变更影响不可见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新旧版本易混用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模型可能自信编造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148CE-1503-4B53-91D0-90666EC5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核心矛盾：政策持续变化，但导办必须可解释、可追溯、可拒答。</a:t>
            </a:r>
          </a:p>
        </p:txBody>
      </p:sp>
    </p:spTree>
    <p:extLst>
      <p:ext uri="{BB962C8B-B14F-4D97-AF65-F5344CB8AC3E}">
        <p14:creationId xmlns:p14="http://schemas.microsoft.com/office/powerpoint/2010/main" val="1274663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55FEBE-F58B-4AAC-AD75-98F4D993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72483-FC68-4C83-BDE1-30B6B4BF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826AF-98C6-4B08-9193-A42A1107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我们把导办升级为可信政策智能内核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D5D16-D7B3-4689-9B40-0BB83206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747BC-9918-4729-9031-595A912D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F51D7-427A-4666-A1F1-11C1EE7F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CCD07-0AB4-42C8-A12A-95C2C3FA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0BB7B-7B31-46C2-A55F-ED7C9AD2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受约束神经符号架构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2E9EC-B4DF-4001-BBED-034C5DAE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让模型进入高价值理解环节，但不让模型越权裁决。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45B7C-41EE-4314-A2AA-19A3A744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3DC6C-A903-445B-8227-7E0D7D12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C8B01-2FE7-4285-8328-29DC8272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模型理解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72896-DA83-4286-B49C-0DEFD8CF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意图、事实、条款候选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CC005-0154-4F9C-9109-9669AFD0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052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17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2C7DD-792A-4B22-BB24-0016DBD9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DD453-D437-488A-844A-0DFAE1D8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909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246BD-C983-4107-A945-8540005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86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规则裁决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0211B-066C-49F6-8025-2D2C47CE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时态规则 + 三值逻辑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24AAA-F4E2-4EFA-B925-5BEECBEA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17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E45B0-2DE0-4E19-9F1A-A5858E17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A65E49-9706-41E8-8DA1-63335145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DE4502-4921-4BC5-8549-828393A5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86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原文举证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2FB7A-BB90-4DE7-8944-9A6D6912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逐字引文 + 来源哈希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2A34B-1D6E-41C4-8D8B-AEF68F69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17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EEC8C-EDF6-4F27-B8DF-97E9BF7B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19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74D735-2363-45CE-AB83-FAE48AA0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3AE946-990D-4751-9547-26947861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86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人工发布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C1C927-0878-43B4-ADDB-1B79FBBD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43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影响分析 + 双审门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0448F3-6B30-4A33-B996-A639A31E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95450"/>
            <a:ext cx="4191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失败时：拒答 / 降级 / 转人工，不静默放行</a:t>
            </a:r>
          </a:p>
        </p:txBody>
      </p:sp>
    </p:spTree>
    <p:extLst>
      <p:ext uri="{BB962C8B-B14F-4D97-AF65-F5344CB8AC3E}">
        <p14:creationId xmlns:p14="http://schemas.microsoft.com/office/powerpoint/2010/main" val="2292938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EA1149-DC17-4161-A866-AAB2F8DB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9B20B-E37B-41B7-9BDB-4E5C7CBB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4A10B-97F1-4218-9756-C4F30A4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一次咨询如何形成可信导办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E5EF6-E2BD-45F7-8F98-989A1F23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869C8-C583-4CF9-B8FC-E6FF57C9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5AC28-848C-4F39-A70E-646AC6EA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76DDF-805B-4D7A-8208-51FF1945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1DC1E-234E-45D8-9B3E-3194E02B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8859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5508F-8F03-4940-8261-1E33F247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61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FB195-5444-43F8-B77C-B8959297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表达诉求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895F2-2E78-4E17-9C93-17DDAFE4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自然语言 / 示例家庭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D875E-DCD1-4C3D-ABE6-BCD4755C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098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DD06-8CF8-46E7-AFC9-64997EA1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57400"/>
            <a:ext cx="18859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EB148-CA76-46D6-B910-4CFC5B7F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09800"/>
            <a:ext cx="361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A8E89-9523-4F4A-A1F2-6836AB2C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479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主动补问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98095-372D-4EC0-B193-52832B2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只问最有信息量的问题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61CE0-176E-49DC-937C-AC8B5DA7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98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4FD60-617D-46BC-AAF6-15C34F07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57400"/>
            <a:ext cx="18859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24BDB-A965-4A3D-B8D9-56DE1BCF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09800"/>
            <a:ext cx="361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6B0ED-6460-4C7A-BABF-17A71275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479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资格预判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F708CA-7858-4097-8A93-A0976D0B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符合 / 可能 / 不足 / 人工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32E09-E8DE-4249-BFF2-F85E3155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98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ECF00-75FF-41F5-98C4-EE613D82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18859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23DD4-A3B7-476C-BB04-FDC58655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09800"/>
            <a:ext cx="361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8AAF02-6170-4B31-AAED-FE7C0890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479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原文举证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59377-83E7-4111-A0F9-7496D2D3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逐字引文、版本、来源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C59E21-C131-4885-9771-91B93D41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479A8F-2E99-4918-9FCD-6AB040C2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18859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71086D-8F23-4DEB-B7A7-D2CB6AF2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361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06A351-6B8E-4D36-AA0C-0E9129F2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479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行动建议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2567C5-C3BE-436D-81C4-FD750885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材料、机构、下一步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943930-AB40-42CF-9CA7-5C00AF8F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52387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F5635D-38CD-457D-80F0-88EA953C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00BA02-1000-47C1-BA96-A7E91ACA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UNKNOWN 是合法答案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62A3DA-E8FD-4004-8CE0-41FF246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819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用户可以不知道或跳过。缺失值不会被偷偷改写为“不符合”。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CF38FC-634C-4910-B01E-2E1C9B8A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52387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D8E382-67E3-4F3C-9E33-F95FAE0C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A94545-1A98-4051-976C-348CCBF6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815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系统从不宣布“已批准”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8EE3C6-5543-4FAF-B75D-E2A02759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62500"/>
            <a:ext cx="4819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输出是导办建议，不替代行政机关审批；高风险场景转人工。</a:t>
            </a:r>
          </a:p>
        </p:txBody>
      </p:sp>
    </p:spTree>
    <p:extLst>
      <p:ext uri="{BB962C8B-B14F-4D97-AF65-F5344CB8AC3E}">
        <p14:creationId xmlns:p14="http://schemas.microsoft.com/office/powerpoint/2010/main" val="2922674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97F76C-9163-4506-84BE-C60D1015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FEEDB-CCCF-41E5-B390-93D175FE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49EEB-2464-4E3C-8865-0CC060FE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一套内核支撑居民、经办与治理三端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B71D0-AF05-4E6C-B684-36F205DD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75366-B023-415E-8FCD-AB90A5A3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DEEAB-C16E-4B42-84E6-8C7E735C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C0709-3CBF-434B-B61E-62086D4F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DF330-C3E5-41C7-9E97-68DAFB81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002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F5B0E-EA40-4543-A92E-D657966D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33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交互层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2C544-3E4C-4EB7-8CF4-3FFE3E48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335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居民端  ·  经办工作台  ·  治理工作台  ·  场景验证中心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92DD6-8391-47C6-819E-493FC6FA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BD158-BD1F-4F5C-8324-2A7AA63A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AI 理解层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17636-466C-4070-BD33-4DDD98F1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意图分类  ·  字段抽取  ·  OCR  ·  Policy2Rule 候选编译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F2093-CD3E-4033-ADD0-C0B3A0F7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EA9EC-279C-403B-8933-3D149ADC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861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推理与证据层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C5074-1C1B-4633-886E-C61CD494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时态规则  ·  三值逻辑  ·  主动提问  ·  BM25/向量接口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99D8C-8E56-406D-87F6-2DC5E41E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29E6A-5435-4258-A7F8-534C3210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624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可信安全层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A76A8-A5FC-4837-88D2-DFA8434C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独立校验器  ·  注入防护  ·  冲突检测  ·  人工发布门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6F6AA-6D3F-4212-B217-694BCFEE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054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9E6DD-3D42-4CD1-9CEC-374A8C93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38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工程层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97735F-C4CC-40CF-AD9F-4BDE98E4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FastAPI  ·  SQLite  ·  审计日志  ·  CI  ·  离线降级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E58E2-1617-45AC-A0CD-E99430C8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09750"/>
            <a:ext cx="876300" cy="39433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同一事实模型</a:t>
            </a:r>
          </a:p>
        </p:txBody>
      </p:sp>
    </p:spTree>
    <p:extLst>
      <p:ext uri="{BB962C8B-B14F-4D97-AF65-F5344CB8AC3E}">
        <p14:creationId xmlns:p14="http://schemas.microsoft.com/office/powerpoint/2010/main" val="18763926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06ED86-82BF-4CE4-9913-23E80CB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082F4-AB97-4F0B-9608-9233A7F2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AI CORE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D3F55-BD42-43FE-A19F-74E6EF1C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Policy2Rule：模型产出候选，不拥有发布权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2E6C1-FB5A-44C3-BB04-F9AD60C3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FA85A-4156-4731-82EA-00B87F19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00236-BB8B-4D32-9D63-FA8F33CF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439A8-4549-476D-9294-0AD04F02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E4F51-8BE4-494E-9524-3D9ED333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0F678-87B2-479A-9B9D-C02474A3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8275D-063A-483D-AFF7-A28849E2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政策原文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3A2AF-6D56-4FB4-8404-E3DA9931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官方网页 / PDF</a:t>
            </a:r>
          </a:p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本地快照 + SHA-256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E428C-B8A6-4E20-BEA6-C51F049E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003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5C876-1D44-473C-A94C-128CC9F7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9550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E3FE4-8C8F-49EC-B4C7-91A62FBD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00DCC-370C-4FC8-B53D-855F29C9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候选抽取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5475F-C5D1-4645-91D8-D49A60F4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623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对象、字段、运算符</a:t>
            </a:r>
          </a:p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阈值、例外、有效期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F1976-264A-4DBC-952C-F55353BE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E10AC-23F9-4C39-9959-96CC0B03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A118BB-DDF3-4289-A7CF-84372DD6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47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2853C-B6E4-4615-9939-E6B96976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860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五重校验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F1BD4-C265-4D7A-A217-F5AA15F5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623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Schema / 白名单</a:t>
            </a:r>
          </a:p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类型 / 原文子串 / 版本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30331D-EB4E-45AB-8A58-C6F459AA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03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1CFDBE-5242-415D-813E-20E0D167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CC351-95CD-40E5-967B-BB97D2A4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9F1A4D-C831-4C32-A82D-3F80AB14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影响分析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37BA7-6E84-4405-9FDC-8E0BA98D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冻结案例批量回放</a:t>
            </a:r>
          </a:p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状态变化与冲突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D5991-8245-4C2B-B190-5AEDF685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BF972B-F752-44BA-AD3F-26E3059E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524198-D00D-46F8-9697-EDD6043D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62507B-8E81-40AA-9C1F-B6306E12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860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人工双审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FB0322-BFB9-43AC-94B3-AB1C9677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623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批准后才进入正式库</a:t>
            </a:r>
          </a:p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模型无 publish 权限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F5D064-DDF4-4903-954F-91634098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AC59D3-B153-4919-94F0-3518C8B9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官方条款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91036A-09A3-4017-A747-D5DA2E04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11 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9EC4F4-3568-4155-B48D-CA08AA19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真实原文 · 项目组构造金标准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94A1EE-C72D-4F58-909A-D216B62B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148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ED7238-DA1B-4718-94B6-22111861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648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逐字锚定率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E776F0-E32C-40C7-9D28-CC6E8662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9149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B8F11E-2C1F-4856-BCA8-D2D909EB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4292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候选引文是原文连续子串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49746F-1C70-4A6A-8414-4CC4932D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8C6BA9-A139-410B-ABE1-7E3DF004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48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条件字段 F1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7FC7C0-A2DF-4F0A-B2D3-889DC2BF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149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B9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B942"/>
                </a:solidFill>
                <a:latin typeface="Arial"/>
                <a:ea typeface="Arial"/>
                <a:cs typeface="Arial"/>
              </a:rPr>
              <a:t>0.727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46C37B-33D1-4FC7-B30E-D72D771F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292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复杂条件仍是重点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A3DF5D-2F87-4206-8509-E886974A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5148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85DEA3-595E-422B-8998-3E287526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48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参数 F1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612CDE-14EC-4F31-87AC-03593AC3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9149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43C35"/>
                </a:solidFill>
                <a:latin typeface="Arial"/>
                <a:ea typeface="Arial"/>
                <a:cs typeface="Arial"/>
              </a:rPr>
              <a:t>0.500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CDBCF4-F41C-4835-983A-2F903BD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292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如实披露，不掩盖短板</a:t>
            </a:r>
          </a:p>
        </p:txBody>
      </p:sp>
    </p:spTree>
    <p:extLst>
      <p:ext uri="{BB962C8B-B14F-4D97-AF65-F5344CB8AC3E}">
        <p14:creationId xmlns:p14="http://schemas.microsoft.com/office/powerpoint/2010/main" val="1362176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B32A32-3F57-43CC-BED4-EB2A5550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B393D-7904-4F00-B4E1-F9260527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AI CORE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314CD-81D2-4E42-9DF0-D8E8CC32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时态规则 + 三值逻辑：防止最危险的“想当然”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D9E2F-8547-424F-B8BD-CEB70644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5F1B0-D6EE-45C4-8EB8-74E27615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2C7AE-2D4C-4963-A892-CC255FF6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DB3AC-DB82-4259-BB7B-FAA1F294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9545A-C27A-435E-95BF-E09984C9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同一问题，不同日期可能有不同答案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34779-21BB-4F46-8694-D65814A0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619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EDF7C-092A-4063-B3C9-FF28420F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57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6ECF0-EF6B-41D9-BB0E-C053973C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57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9DE35-CA4F-4470-BACE-B00B0F75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64163-925D-4EF4-AFCC-522AC8EB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旧版生效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5B7CD-F731-43D1-9A79-A40EDBE6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版本切换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4B90E-847F-4512-BC3B-697A30ED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051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查询日期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74157-1B08-467F-940B-2DB01234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66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E206F-513F-44BD-BD18-005C80B8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600A4-FB9F-42C1-A8DD-E32E3F3B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检索先过滤，再召回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2A547-4879-4311-89BC-19727F75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624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先按地区与查询日期筛选有效版本；过期、未生效和跨地区片段进入排除列表，并解释“为什么没采用”。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DA16D-4EA7-451D-9097-2E390028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71650"/>
            <a:ext cx="321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B76C5-7C13-4AEC-93B7-5A3DE646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5CCA6-BE92-4B69-9CB4-3B1ABAB1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条件满足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86CB17-A1E6-4A79-814D-E727CCFB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71800"/>
            <a:ext cx="321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FEC5C4-1430-4702-83FD-2E130B73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3C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43C35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948089-ECD9-4198-BA2B-82703C51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条件明确不满足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9F126B-AC3B-4BAD-8C49-FFE3B3EB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321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8356B5-0407-4B3D-84A4-38467A1E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9A65F4-4A9A-42A9-9D7B-256D3D77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86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关键事实缺失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26D2B1-EED0-42DB-83EF-19B9B3CF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197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UNKNOWN 不等于 FALSE</a:t>
            </a:r>
          </a:p>
        </p:txBody>
      </p:sp>
    </p:spTree>
    <p:extLst>
      <p:ext uri="{BB962C8B-B14F-4D97-AF65-F5344CB8AC3E}">
        <p14:creationId xmlns:p14="http://schemas.microsoft.com/office/powerpoint/2010/main" val="13330659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077B4D-B446-4A77-9746-B15434E0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520AC-993D-4F21-A4B7-BAB3F6FC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78CAD-13C6-4C27-9936-C27E79CA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每个结论都能回到逐字政策原文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303C6-3102-4CC7-A8BE-3D815324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C12E0-0D53-4593-AB6C-DD28AF7F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22A8C-D1B1-4723-BEE0-1791EAD6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C3B1C-3910-410B-B6CD-8E620D71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66DC8-006D-4525-8720-9F40F11F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F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90E49-3973-4B76-99EB-A0F0CC72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导办结论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36119-FDEB-478F-92E6-26E50462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可能符合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需补充家庭收入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EFE86-30CA-4582-822C-C95FB4E7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90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1CF9A-98AE-460B-B014-D704BC50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5768B-470F-4059-8A8F-FFDE04D1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规则条件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C6688-3CB5-442B-AB89-9FAD0C64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income_per_capita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&lt;= local_standard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AA00F-D506-4502-83B0-893BF20F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5865D-7224-47F5-9417-C61D6DF3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F21AF-D684-488F-AEFA-BD2EEC53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逐字引文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67B04-D827-4254-B0E9-848048BF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289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原文连续子串</a:t>
            </a:r>
          </a:p>
          <a:p xmlns:a="http://schemas.openxmlformats.org/drawingml/2006/main">
            <a:pPr algn="ctr">
              <a:defRPr sz="105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不允许模型改写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6DEA3-82FE-4386-81A5-C61EBFAF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4DF4D-8DF7-4E87-B148-F54E8D9A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3B7A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B0EC4-447A-42DD-80D0-6080957F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来源快照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C4B2F-0400-4918-AA43-559E7771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289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URL / 文件定位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发布日期 / 地区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FF0EA9-C58D-4D82-A23A-935C475C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DB3D6B-2EF6-40CB-8FC2-CF4725C0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ABEBB3-23A3-4BCB-871A-CB51F13C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完整性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B326D-4FA5-49D5-B4C6-AE97906E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289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SHA-256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审计时间 / 复核状态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6A0E21-7F2D-4393-AD51-712CFE1B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AFF750-C797-4A03-AE82-DEAFDC7D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19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证据逐字审计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1326B5-ACAF-4A0C-BC24-B711194A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863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E04DE-B433-422C-96D3-37268070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007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本地快照子串核验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9E711E-E704-4635-A99B-E3C4E7BB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863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B6A64B-505D-44AC-9E4A-ADD6D500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19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检索 Recall@3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E958B0-0BD2-4D44-904F-C5677852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863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862FFA-5F01-46A6-8834-E977206C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007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12 条项目内冻结问题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F7DC28-0670-4589-B73C-E8ECB32F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E22B08-32AA-4296-80CD-6C9E74FE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19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MRR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27E1AA-15D3-4A30-8DE7-DBA81CFC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863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0.958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7A68A1-F2D7-4704-B110-B2388C46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007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数据性质已明确标注</a:t>
            </a:r>
          </a:p>
        </p:txBody>
      </p:sp>
    </p:spTree>
    <p:extLst>
      <p:ext uri="{BB962C8B-B14F-4D97-AF65-F5344CB8AC3E}">
        <p14:creationId xmlns:p14="http://schemas.microsoft.com/office/powerpoint/2010/main" val="1086078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3ABF66-4C3A-4F05-90C7-89FD40DE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04428-5CB0-405D-BA2A-7BC2D16C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AI CORE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46762-D055-43DF-A65F-BCC557E2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主动信息增益提问：少问，但不漏问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7C1D6-8C15-4527-9955-B7271A8F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10583-B264-41DE-88A2-184998AA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1CA2E-AFB4-4CD4-8D5A-8207FDAA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48C54-30DA-4426-9F9B-F4CDC2DF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19F7A-8403-4D8C-A46D-98140B2D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0957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29F4F-CBA3-4EF0-811E-CC83ACF5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6200" cy="1638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D8740-5EE8-4BB3-B1C0-3F02BD26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传统表单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569B8-2344-4056-95F2-526C89A9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676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按固定顺序询问 17 个字段</a:t>
            </a:r>
          </a:p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用户负担高，且很多问题与当前事项无关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D37F9-1B24-4CA7-BB08-B4909010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0957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361AF-7546-4734-8237-A2734FD6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76200" cy="1638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F68E0-53F0-434E-B5E4-1B6523EE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主动策略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85B1A-3A7F-4FA6-BF38-AFD0C842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3676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计算缺失事实对事项状态的区分能力</a:t>
            </a:r>
          </a:p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优先问最能减少不确定性的问题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E0AC0-10E0-4C2B-84A1-CE1715ED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信息增益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39B5A-9C89-4A6C-8520-512E0426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46DD7-335B-4E16-92C9-7932F99C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192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43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43C35"/>
                </a:solidFill>
                <a:latin typeface="Arial"/>
                <a:ea typeface="Arial"/>
                <a:cs typeface="Arial"/>
              </a:rPr>
              <a:t>风险优先级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5F2CC-E377-401D-A8DD-D1CE55F6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0980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B62FA-2F1A-486E-975C-698A2595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581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89C67-EDC3-4A1F-A7B0-54766F47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28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7F966-DF82-462B-92B7-A43E3BA8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717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家庭人口与共同生活成员？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EAB5CA-5051-4A22-8806-D69AD809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事项区分度高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3387EE-C19B-4E9F-A355-2B7C0E54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581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548006-1665-4739-B889-8BFBC0F9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71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834FD5-B7F5-4B38-831D-13455635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1470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当前收入信息是否明确？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85B28E-1304-4C4D-BE31-C1C7AD0D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147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直接影响多项规则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B6E8DF-252A-4866-8B62-64931025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62400"/>
            <a:ext cx="581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8A145F-28E9-4E73-AB3F-82F6F472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14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E5385F-C2C9-42C8-9A1A-211FE633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576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是否存在紧急风险？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59376A-EEDE-43DD-AD70-1746D714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576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高风险优先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6F5C80-586C-46F1-AAB7-3437ABA1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05350"/>
            <a:ext cx="581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79B527-7B92-41CC-85DC-B122431B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8577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8FCD79-97F5-4187-A7EC-7003AD0F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0060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无法确认？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2810B2-93D0-44FA-BB9E-9E944DB2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00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保留 UNKNOWN，可跳过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7A171B-A1D6-4563-86A4-2ACBB7BD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388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240 个合成案例 · 状态一致性 100% · 紧急风险漏检 0</a:t>
            </a:r>
          </a:p>
        </p:txBody>
      </p:sp>
    </p:spTree>
    <p:extLst>
      <p:ext uri="{BB962C8B-B14F-4D97-AF65-F5344CB8AC3E}">
        <p14:creationId xmlns:p14="http://schemas.microsoft.com/office/powerpoint/2010/main" val="19570833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775D3C-5A03-41C8-9855-A837814F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B339E-5320-4B70-9AEB-43BAE66E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75EA3-7301-466A-A1E0-F087CD05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可复现实验：效率、安全与工程同时量化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9E250-157D-484B-BC8A-7814FD47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B53EB-3726-40A1-A230-52D18862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F0A2C-5D5D-4BFA-8D7D-12711C3E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59946-FB36-4BD4-B06D-EA4F2206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5143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18f627d13c4352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25F1C-E8BB-4D6D-AF94-223AB15A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平均问题数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5782F-2D8C-443F-96E1-BBE65C94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F7CF8-6E8A-400B-A05E-AE41E5CD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提问减少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FAE0F-694E-41B1-BDAD-8F01FBFE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51.47%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73255-BCFA-47B0-905F-BE8D9608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相对 17 字段完整表单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17D5A-6320-4A09-9E80-F41878FF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36F16-8A05-4CA6-9C90-BF6A4DE2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85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安全回归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0C76B-1B6D-48CC-A85C-05008F99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526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100 / 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53254-F38F-4EF0-9DCB-6033B8B2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项目内高风险集通过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48967-F7C2-4E2F-A7F5-2CD22166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F7DC14-AA6C-449F-9DC6-F7B9E826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并发 30 · P95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B5D9A-E574-4B20-B3B2-1740B835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883.5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75940F-183E-4083-AF72-C48DBB26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91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本机回环 Uvicorn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EF073-71AD-4A10-B91D-17AD3EC7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D9196-DA05-4053-AF13-404B7215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09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自动测试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C7DC7-2F4E-40B8-9E70-02B1E94A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66 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C006C0-4CAB-4147-9EA4-CF98E867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91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全量 Pytest 当前通过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765602-6235-41CF-A6AC-1040937E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504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Qwen3画像 F1 1.000 · P95 4.850 s</a:t>
            </a:r>
          </a:p>
          <a:p xmlns:a="http://schemas.openxmlformats.org/drawingml/2006/main">
            <a:pPr algn="ctr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混合检索 P95 898 ms · 12/12真实路由</a:t>
            </a:r>
          </a:p>
        </p:txBody>
      </p:sp>
    </p:spTree>
    <p:extLst>
      <p:ext uri="{BB962C8B-B14F-4D97-AF65-F5344CB8AC3E}">
        <p14:creationId xmlns:p14="http://schemas.microsoft.com/office/powerpoint/2010/main" val="12336675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D0F05B-3FB3-4D7B-899E-B299D72F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D0C77-3C80-42E8-8C12-849E9AB7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03F71-D737-4526-9147-498C63A1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八组消融证明：可信机制不是界面装饰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DA1F3-4E57-46E7-A3F2-8D7BEB72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91228-B032-4C48-B041-C5B988AD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C6A5F-E5B2-4B19-A928-15EF9AC8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756A5-AEB7-4D39-A526-345D2A9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1FAA2-3CE5-491F-873C-EEDBF2AF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105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D35CD-79C5-4CED-9D57-5900D5D9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57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84161-A6CD-4F8D-9411-C871F65C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三值逻辑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517EE-0A26-48D4-86BF-F4173468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478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C4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43C35"/>
                </a:solidFill>
                <a:latin typeface="Arial"/>
                <a:ea typeface="Arial"/>
                <a:cs typeface="Arial"/>
              </a:rPr>
              <a:t>204 / 240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FC953-22E9-470F-9EDE-982CADA1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若强制二值化，将产生武断结果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59E24-A2C6-45A9-871E-EAA80F4D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105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F159C-945C-4D32-88A3-A9401A38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857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EBA2C-BC82-43A1-B3CD-BCAF3FAC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证据门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8BCF1C-BE74-47B1-B812-3780E0DE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478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C4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43C35"/>
                </a:solidFill>
                <a:latin typeface="Arial"/>
                <a:ea typeface="Arial"/>
                <a:cs typeface="Arial"/>
              </a:rPr>
              <a:t>4320 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5E062-DACA-47CA-A4C2-DA539F35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关闭后条件失去可追溯证据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10EDA-9BE4-4EC8-99B7-F5DF18E7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5105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44A79-2A78-425C-8918-A56F9797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857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6FEFB-27AA-418D-83C6-B0525B2B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主动提问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5335A-CF5D-43C6-A616-7C56CF61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385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F5B9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B942"/>
                </a:solidFill>
                <a:latin typeface="Arial"/>
                <a:ea typeface="Arial"/>
                <a:cs typeface="Arial"/>
              </a:rPr>
              <a:t>+2.75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5EE8A-CC27-4371-8845-128FB97F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固定提问平均额外问题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8B1C07-9706-4F2B-93A1-380E8364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5105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A36ED4-38B0-4BE6-8271-6E3D2EF3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857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FCABD8-3AEB-4C44-8738-946E0CD0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人工发布门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2631FC-F23A-4F47-8D22-09377BDE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385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11 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CB7450-407B-4323-ADC9-2328B596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291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自动发布候选全部被阻断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3661BD-702F-4893-BE1A-8B3EDEDF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100 条高风险回归覆盖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C8F4C7-DC61-4475-9033-416C7922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43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UNKNOWN 保留 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C79C43-A7E1-4E70-BD97-69FD0B22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543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时间边界 20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FE5935-07C9-4F0A-87C8-65B98303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43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越权问题 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6BAABD-6A00-4ACF-8F78-0EE1BE1B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43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提示注入 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F1D3D0-9596-4110-A22E-BD1FFD5A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543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发布门 15</a:t>
            </a:r>
          </a:p>
        </p:txBody>
      </p:sp>
    </p:spTree>
    <p:extLst>
      <p:ext uri="{BB962C8B-B14F-4D97-AF65-F5344CB8AC3E}">
        <p14:creationId xmlns:p14="http://schemas.microsoft.com/office/powerpoint/2010/main" val="11691074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AF37EB-1B93-4C6B-93AC-0AE83446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F1F4B-CD49-46D6-8825-76B9ED96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52C31-6D8B-4426-8F26-0D26C0F1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从居民咨询到政策治理的完整软件闭环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B874A-1E4F-4D7A-BF29-6D02EB3F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7674A-F682-4F7E-820A-F8D99624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B9DA7-3B72-47BB-BDE2-3A2B0ECB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B25DE-9044-4C04-91CC-6C027456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73CEA-600C-43AA-A161-6A78DE5E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AF256-AE03-4618-8E49-7BAC25A6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623B9-5484-4233-9C53-0806047D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居民智能导办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00457-FE6C-4249-A064-181CAF97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诉求解析 · 主动补问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资格预判 · 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4C82A-7581-488E-A57E-2791F78D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ADA91-B559-4E4F-AF2D-8EB6874F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7D237-E273-41E8-8222-32AAC274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政策证据检索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ADE28-BCD2-4910-885D-B256A5CA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地区/日期过滤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逐字引文 · 排除解释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EAD99-BC54-4FD1-A52C-95804E7A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4582E-F8A1-4AAD-AF06-0DDD8720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176F0-77CA-49CF-81E9-140AB8C6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材料智能预检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B9370-6623-461D-B3DC-0A001B14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OCR 候选字段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质量提醒 · 人工确认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414F50-03E5-4032-9CF0-E8C210CD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14701-C57A-4737-9D10-4B588F7B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538B22-9331-4BFC-B7BE-E3B8F2E9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经办工作台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D2038A-72ED-47AF-8ECB-1282AB59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五事项摘要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缺失信息 · 风险标记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5861A-4EC4-44DC-BE45-C50255FB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3CFB38-5DF6-4F3A-A276-A2EA2838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81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DC19C8-A0C1-451A-B788-3E958F81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治理工作台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342C81-A2A0-4C2D-A011-6FE049E5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38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候选规则 · 版本差异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影响分析 · 双审发布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C5790F-01DD-42A6-9152-15511D4C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100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4B8B10-219C-4606-8278-8828AB27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DD9962-3C29-40ED-B781-AF757916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62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场景验证中心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C9D04A-154B-43E1-A770-DBE21042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38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A–F 六条路径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现场稳定复现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96BA06-E66F-4CE7-8935-51E45732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8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一套事实模型 · 一条证据链 · 一套回归体系</a:t>
            </a:r>
          </a:p>
        </p:txBody>
      </p:sp>
    </p:spTree>
    <p:extLst>
      <p:ext uri="{BB962C8B-B14F-4D97-AF65-F5344CB8AC3E}">
        <p14:creationId xmlns:p14="http://schemas.microsoft.com/office/powerpoint/2010/main" val="16874290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439713-4C2E-4FB3-B845-5D11CA88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381A2-A73B-4DCC-8151-C137ADEC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375C5-B21B-4448-8232-488D1823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单机可运行、可测试、可审计、可打包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5CCB6-E430-400B-B3BA-240F0654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532F8-F32E-4259-B17B-5FED2BC4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FCA91-76F8-434A-8F84-843CEE76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C194C-3476-4937-A7D1-1CB2D109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8A585-E9D9-4265-A174-B1BB7576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5C333-A6D2-440F-8C33-924E7267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AA5EA-016E-47E3-8AB6-8788ADCE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0FBD2-CBD1-4718-9787-1893D7A3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Python 3.12 + 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2D933-8FEF-4F52-BD36-CF9D3CB8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F25A6-64D5-4347-99F1-F8519FE8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Qwen3 双模型 100% GPU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46889-FBD4-432E-B860-F7687DDC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A3439-FBEE-43E1-B203-5CC34025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PowerShell 一键启停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15392-E404-4D2F-B13B-40BB7392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9D5F5-FAD7-46A3-AAFC-D4BCDFF4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模型不可用显式降级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B7E08-7A63-4BB2-BE63-6CD42D51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885FE-F255-4FC9-8DB1-157DA5EF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621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质量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55B10-43B2-4116-BC13-C5128184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C322D5-8272-4B6A-834A-E2A0E7FC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66 项自动测试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0C0CE-7757-418C-9754-56C7319B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3A9BEA-C111-4FDA-B41B-3E76E4E2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242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100 条高风险回归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B1BC2B-9774-4474-BA89-64B4E316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90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FF24AE-88DF-4E8C-AADE-63DFBB03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766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前端路由契约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BF22BC-2E9B-4429-9CA4-8D552A5B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9FF60F-0D61-4B5C-871E-59868689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291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六条演示路径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DE001A-EE1B-4D98-ABFA-4D0086AF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DB3AB1-0EC8-444B-A12B-6B3D9260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供应链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7ABE1F-52B1-48CD-A0E1-2A4A2BA3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018A04-B478-44FF-8227-82D6E77E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46 项锁定依赖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65A46B-89A6-4E9D-94CD-BBDE6FCC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039B50-47EE-4782-83FC-C8A32EE5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242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SBOM 软件物料清单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E744F6-5563-4F87-BFB7-AC88AB74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90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BA2FF7-BEED-4306-A895-A7F09F49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已知漏洞 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25C854-EA90-4C94-88E1-13037C56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97A256-9C65-4AB4-9380-9DE1371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291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数据与源码哈希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562E09-AE07-4F9C-A67A-2886211D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870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reproduce_phase12.ps1  →  重跑评测、清单、SBOM 与并发测试</a:t>
            </a:r>
          </a:p>
        </p:txBody>
      </p:sp>
    </p:spTree>
    <p:extLst>
      <p:ext uri="{BB962C8B-B14F-4D97-AF65-F5344CB8AC3E}">
        <p14:creationId xmlns:p14="http://schemas.microsoft.com/office/powerpoint/2010/main" val="11425596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A4DE2-B4B6-4BEC-997C-DCCEF8B0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6388E-DF23-48BD-8742-0E953F62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HONESTY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3C571-0FD0-4BB5-AC6E-79578259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我们明确知道：什么已经证明，什么尚未证明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1E64E-0D1F-4DFC-A656-18F8FB14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FED74-7A28-4ED5-92A7-34F118C4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04E85-71A5-46B2-B705-BA14AB23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2D0FE-D260-4AEC-97DF-C74765C1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DC004-BDF5-4BF6-8236-0BE24BDF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105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F8D96-551C-4D93-A050-CE3C600C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62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A3886-44DE-45C8-9283-E67FA513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已经可验证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EA78C-5A10-4CA3-98CD-3071BBF4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686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✓ 可信软件闭环可运行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✓ 规则与证据逐字追溯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✓ Qwen3双模型GPU冻结评测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✓ 高风险输出被工程护栏阻断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✓ 单机并发与供应链状态可检查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027DD-D17A-40ED-A9A1-9B5CEB02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105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1CF6B-4756-4AC8-9A08-AB4D72CE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762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CC8EF-796B-437B-8419-2B79FCDD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仍需外部验证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E7746-81D8-4CB4-AF1E-103C423D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4686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○ 真实参与者可用性试点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○ 另一台干净电脑安装验收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○ 基层经办或社工使用反馈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○ 盖章、签字与指定平台提交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○ 最终平台信息与下载链接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27E66-7F80-4C29-99B0-84B8F582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不把合成数据写成真人数据，不把导办写成审批，不把内部评测写成第三方认证。</a:t>
            </a:r>
          </a:p>
        </p:txBody>
      </p:sp>
    </p:spTree>
    <p:extLst>
      <p:ext uri="{BB962C8B-B14F-4D97-AF65-F5344CB8AC3E}">
        <p14:creationId xmlns:p14="http://schemas.microsoft.com/office/powerpoint/2010/main" val="11534289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5EE44-F5AA-4C7D-8611-082D58AD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50258-F642-4003-8642-0F7BB4BE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92E6D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2E6D8"/>
                </a:solidFill>
                <a:latin typeface="Arial"/>
                <a:ea typeface="Arial"/>
                <a:cs typeface="Arial"/>
              </a:rPr>
              <a:t>惠民智导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A06B1-DCA8-4523-900D-30441672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885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把高风险政策智能做成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可追溯、可拒答、可回归的软件。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23986-0AC5-4523-A68E-7F5167AC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2E6D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2E6D8"/>
                </a:solidFill>
                <a:latin typeface="Arial"/>
                <a:ea typeface="Arial"/>
                <a:cs typeface="Arial"/>
              </a:rPr>
              <a:t>技术主张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22F79-C964-4477-9169-7131ABF1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7D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C7D4"/>
                </a:solidFill>
                <a:latin typeface="Arial"/>
                <a:ea typeface="Arial"/>
                <a:cs typeface="Arial"/>
              </a:rPr>
              <a:t>受约束神经符号架构  /  时态规则  /  三值逻辑  /  原文证据链  /  人工发布门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0013F-87A7-4068-B416-35AE3D48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现在进入系统演示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F2FE4-DEFA-47D4-AC1D-84C30042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864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924743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2026-10-05T19:42:39.2110000Z</dcterms:created>
  <dcterms:modified xsi:type="dcterms:W3CDTF">2026-10-05T19:42:39.2110000Z</dcterms:modified>
</coreProperties>
</file>