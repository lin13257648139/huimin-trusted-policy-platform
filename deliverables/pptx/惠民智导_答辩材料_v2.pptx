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ac233bd3ef497a" /><Relationship Type="http://schemas.openxmlformats.org/officeDocument/2006/relationships/extended-properties" Target="/docProps/app.xml" Id="R89be621ff4d4494c" /><Relationship Type="http://schemas.openxmlformats.org/officeDocument/2006/relationships/officeDocument" Target="/ppt/presentation.xml" Id="Rfabe4e839d4140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8cc66264c84b33"/>
  </p:sldMasterIdLst>
  <p:notesMasterIdLst>
    <p:notesMasterId xmlns:r="http://schemas.openxmlformats.org/officeDocument/2006/relationships" r:id="R3fce29d8f9904226"/>
  </p:notesMasterIdLst>
  <p:sldIdLst>
    <p:sldId xmlns:r="http://schemas.openxmlformats.org/officeDocument/2006/relationships" id="256" r:id="Re26b77ff245d4b52"/>
    <p:sldId xmlns:r="http://schemas.openxmlformats.org/officeDocument/2006/relationships" id="257" r:id="R11178b95e2a745e9"/>
    <p:sldId xmlns:r="http://schemas.openxmlformats.org/officeDocument/2006/relationships" id="258" r:id="R8339486d931b462b"/>
    <p:sldId xmlns:r="http://schemas.openxmlformats.org/officeDocument/2006/relationships" id="259" r:id="R84b63dd273ea43ee"/>
    <p:sldId xmlns:r="http://schemas.openxmlformats.org/officeDocument/2006/relationships" id="260" r:id="R524fe11bde484d63"/>
    <p:sldId xmlns:r="http://schemas.openxmlformats.org/officeDocument/2006/relationships" id="261" r:id="R1a91c072add34808"/>
    <p:sldId xmlns:r="http://schemas.openxmlformats.org/officeDocument/2006/relationships" id="262" r:id="R35c2fc93a8bc4cd9"/>
    <p:sldId xmlns:r="http://schemas.openxmlformats.org/officeDocument/2006/relationships" id="263" r:id="R97643b15276d41ed"/>
    <p:sldId xmlns:r="http://schemas.openxmlformats.org/officeDocument/2006/relationships" id="264" r:id="R4d73b3eef60749cd"/>
    <p:sldId xmlns:r="http://schemas.openxmlformats.org/officeDocument/2006/relationships" id="265" r:id="R1306f6f57ad94a03"/>
    <p:sldId xmlns:r="http://schemas.openxmlformats.org/officeDocument/2006/relationships" id="266" r:id="R25a1f3780385436f"/>
    <p:sldId xmlns:r="http://schemas.openxmlformats.org/officeDocument/2006/relationships" id="267" r:id="R761a0acd68344168"/>
    <p:sldId xmlns:r="http://schemas.openxmlformats.org/officeDocument/2006/relationships" id="268" r:id="R23b37749a8ac47e3"/>
    <p:sldId xmlns:r="http://schemas.openxmlformats.org/officeDocument/2006/relationships" id="269" r:id="R34bc38abab874c19"/>
    <p:sldId xmlns:r="http://schemas.openxmlformats.org/officeDocument/2006/relationships" id="270" r:id="R349983a9bef546c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4c3b35e91e4676" /><Relationship Type="http://schemas.openxmlformats.org/officeDocument/2006/relationships/slideMaster" Target="/ppt/slideMasters/slideMaster1.xml" Id="Rfc8cc66264c84b33" /><Relationship Type="http://schemas.openxmlformats.org/officeDocument/2006/relationships/notesMaster" Target="/ppt/notesMasters/notesMaster1.xml" Id="R3fce29d8f9904226" /><Relationship Type="http://schemas.openxmlformats.org/officeDocument/2006/relationships/presProps" Target="/ppt/presProps.xml" Id="Ra8c4826df6cd455c" /><Relationship Type="http://schemas.openxmlformats.org/officeDocument/2006/relationships/tableStyles" Target="/ppt/tableStyles.xml" Id="Rb29569b461ad43f1" /><Relationship Type="http://schemas.openxmlformats.org/officeDocument/2006/relationships/slide" Target="/ppt/slides/slide1.xml" Id="Re26b77ff245d4b52" /><Relationship Type="http://schemas.openxmlformats.org/officeDocument/2006/relationships/slide" Target="/ppt/slides/slide2.xml" Id="R11178b95e2a745e9" /><Relationship Type="http://schemas.openxmlformats.org/officeDocument/2006/relationships/slide" Target="/ppt/slides/slide3.xml" Id="R8339486d931b462b" /><Relationship Type="http://schemas.openxmlformats.org/officeDocument/2006/relationships/slide" Target="/ppt/slides/slide4.xml" Id="R84b63dd273ea43ee" /><Relationship Type="http://schemas.openxmlformats.org/officeDocument/2006/relationships/slide" Target="/ppt/slides/slide5.xml" Id="R524fe11bde484d63" /><Relationship Type="http://schemas.openxmlformats.org/officeDocument/2006/relationships/slide" Target="/ppt/slides/slide6.xml" Id="R1a91c072add34808" /><Relationship Type="http://schemas.openxmlformats.org/officeDocument/2006/relationships/slide" Target="/ppt/slides/slide7.xml" Id="R35c2fc93a8bc4cd9" /><Relationship Type="http://schemas.openxmlformats.org/officeDocument/2006/relationships/slide" Target="/ppt/slides/slide8.xml" Id="R97643b15276d41ed" /><Relationship Type="http://schemas.openxmlformats.org/officeDocument/2006/relationships/slide" Target="/ppt/slides/slide9.xml" Id="R4d73b3eef60749cd" /><Relationship Type="http://schemas.openxmlformats.org/officeDocument/2006/relationships/slide" Target="/ppt/slides/slide10.xml" Id="R1306f6f57ad94a03" /><Relationship Type="http://schemas.openxmlformats.org/officeDocument/2006/relationships/slide" Target="/ppt/slides/slide11.xml" Id="R25a1f3780385436f" /><Relationship Type="http://schemas.openxmlformats.org/officeDocument/2006/relationships/slide" Target="/ppt/slides/slide12.xml" Id="R761a0acd68344168" /><Relationship Type="http://schemas.openxmlformats.org/officeDocument/2006/relationships/slide" Target="/ppt/slides/slide13.xml" Id="R23b37749a8ac47e3" /><Relationship Type="http://schemas.openxmlformats.org/officeDocument/2006/relationships/slide" Target="/ppt/slides/slide14.xml" Id="R34bc38abab874c19" /><Relationship Type="http://schemas.openxmlformats.org/officeDocument/2006/relationships/slide" Target="/ppt/slides/slide15.xml" Id="R349983a9bef546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fa7c2ea7d245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eaca1740384e19" /><Relationship Type="http://schemas.openxmlformats.org/officeDocument/2006/relationships/notesMaster" Target="/ppt/notesMasters/notesMaster1.xml" Id="R7dff949ef59340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61a0831ed9437b" /><Relationship Type="http://schemas.openxmlformats.org/officeDocument/2006/relationships/notesMaster" Target="/ppt/notesMasters/notesMaster1.xml" Id="Rf5e2bc2de40141e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39ec460d564196" /><Relationship Type="http://schemas.openxmlformats.org/officeDocument/2006/relationships/notesMaster" Target="/ppt/notesMasters/notesMaster1.xml" Id="R475136bcdc404f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797b56a52249b0" /><Relationship Type="http://schemas.openxmlformats.org/officeDocument/2006/relationships/notesMaster" Target="/ppt/notesMasters/notesMaster1.xml" Id="R710f15b6175e4e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fb29c7dc4584c42" /><Relationship Type="http://schemas.openxmlformats.org/officeDocument/2006/relationships/notesMaster" Target="/ppt/notesMasters/notesMaster1.xml" Id="Rab2c53371cd2434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47094fcb1c439f" /><Relationship Type="http://schemas.openxmlformats.org/officeDocument/2006/relationships/notesMaster" Target="/ppt/notesMasters/notesMaster1.xml" Id="R82ba4ea8b61c48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1da7571dcc64a4c" /><Relationship Type="http://schemas.openxmlformats.org/officeDocument/2006/relationships/notesMaster" Target="/ppt/notesMasters/notesMaster1.xml" Id="R1204994b03a44ba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e4cfbe09ee84ed8" /><Relationship Type="http://schemas.openxmlformats.org/officeDocument/2006/relationships/notesMaster" Target="/ppt/notesMasters/notesMaster1.xml" Id="Re92fb50f3be5431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6062b73ec9d4515" /><Relationship Type="http://schemas.openxmlformats.org/officeDocument/2006/relationships/notesMaster" Target="/ppt/notesMasters/notesMaster1.xml" Id="R94bbdd3c40394b2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e7fcf651ba04c9b" /><Relationship Type="http://schemas.openxmlformats.org/officeDocument/2006/relationships/notesMaster" Target="/ppt/notesMasters/notesMaster1.xml" Id="R4b70eb589b2e42f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673a9f94b7f49fc" /><Relationship Type="http://schemas.openxmlformats.org/officeDocument/2006/relationships/notesMaster" Target="/ppt/notesMasters/notesMaster1.xml" Id="R29dfb21f1782432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0dfb7816e6d4225" /><Relationship Type="http://schemas.openxmlformats.org/officeDocument/2006/relationships/notesMaster" Target="/ppt/notesMasters/notesMaster1.xml" Id="R4ded5a248ff3479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505463b26034bcc" /><Relationship Type="http://schemas.openxmlformats.org/officeDocument/2006/relationships/notesMaster" Target="/ppt/notesMasters/notesMaster1.xml" Id="R66b2e1acb6c2479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4d86014b4684372" /><Relationship Type="http://schemas.openxmlformats.org/officeDocument/2006/relationships/notesMaster" Target="/ppt/notesMasters/notesMaster1.xml" Id="R0066639a10ff4de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8bc79d6e0b54893" /><Relationship Type="http://schemas.openxmlformats.org/officeDocument/2006/relationships/notesMaster" Target="/ppt/notesMasters/notesMaster1.xml" Id="Rb865aa18637d41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开场：这是一个面向高风险政策服务的可信政策智能软件平台，社会救助是第一个深度验证场景。控制在20秒。数据均来自项目仓库。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问题不是缺一个聊天框，而是缺一条把政策版本、信息缺失、原文证据和人工责任连接起来的可信链路。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一句话技术定义：模型负责理解与候选抽取，规则负责确定性裁决，证据负责追溯，人工负责发布。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现场演示建议从评审演示中心载入案例A，再切案例B展示信息不足状态。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强调不是多个互不相干的演示页面：居民端输入的事实模型可直接形成经办摘要，并被治理侧回归集复用。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来源：data/evaluation/policy_compiler_real_report.json。11条来自官方政策原文，金标准由项目组构造，不称为独立专家评测。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消融结果：关闭二值保护，会迫使240个信息不足案例中的204个产生武断结果。来源 data/evaluation/ablation_report.json。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来源：evidence_quote_audit.json 与 retrieval_report.json。检索只有12条项目内问题，必须明确样本量，不能外推真实使用效果。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来源：active_question_report.json。240例为项目内合成场景，用于证明算法机制，不是用户试点。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来源：active_question_report.json、high_risk_safety_report.json、http_concurrency_report.json、ai_pipeline_report.json、pytest。画像与检索是项目内构造小样本，不能外推真人效果；并发测试是本机回环，不是生产压测。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来源：ablation_report.json 与 high_risk_safety_report.json。高风险集是项目内构建，不称为独立红队。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现场可快速展示：居民端→证据查询→治理影响分析→可信度中心。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强调供应链和复现：依赖锁定、漏洞审计、SBOM、Git基线和自动化CI都不是答辩文字，而是仓库内真实文件。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这一页主动说明边界。模型实测已完成；真人试点、第三方干净机验收和团队视频仍必须由真实参与者完成。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结束语：我们希望评委看到的不是一个政策聊天机器人，而是一套能把生成式AI风险约束进工程流程的可信软件方法。随后进入六条固定演示路径。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542d61da6f42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4fb6215940458f" /><Relationship Type="http://schemas.openxmlformats.org/officeDocument/2006/relationships/slideLayout" Target="/ppt/slideLayouts/slideLayout1.xml" Id="R5904814722ea43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04814722ea43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8f92ec7b7e4c76" /><Relationship Type="http://schemas.openxmlformats.org/officeDocument/2006/relationships/notesSlide" Target="/ppt/notesSlides/notesSlide1.xml" Id="R708be9d948a84c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97ccaee2b64589" /><Relationship Type="http://schemas.openxmlformats.org/officeDocument/2006/relationships/notesSlide" Target="/ppt/notesSlides/notesSlide2.xml" Id="R4a1eddd713c141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08b11721c744d8" /><Relationship Type="http://schemas.openxmlformats.org/officeDocument/2006/relationships/notesSlide" Target="/ppt/notesSlides/notesSlide3.xml" Id="Rb6c2fdfd10704b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37542974ba47d2" /><Relationship Type="http://schemas.openxmlformats.org/officeDocument/2006/relationships/notesSlide" Target="/ppt/notesSlides/notesSlide4.xml" Id="Rea788fc5af344e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30a6c8687d4996" /><Relationship Type="http://schemas.openxmlformats.org/officeDocument/2006/relationships/notesSlide" Target="/ppt/notesSlides/notesSlide5.xml" Id="Rc350ef5464554a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83e386b2704ee5" /><Relationship Type="http://schemas.openxmlformats.org/officeDocument/2006/relationships/notesSlide" Target="/ppt/notesSlides/notesSlide6.xml" Id="R41a3453eb64a40c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a3e5ff084e4ad0" /><Relationship Type="http://schemas.openxmlformats.org/officeDocument/2006/relationships/notesSlide" Target="/ppt/notesSlides/notesSlide7.xml" Id="R81822e2ca66247b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e14dd848154ada" /><Relationship Type="http://schemas.openxmlformats.org/officeDocument/2006/relationships/notesSlide" Target="/ppt/notesSlides/notesSlide8.xml" Id="R42e2388807804fe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3507d1cbde415a" /><Relationship Type="http://schemas.openxmlformats.org/officeDocument/2006/relationships/notesSlide" Target="/ppt/notesSlides/notesSlide9.xml" Id="R51187466235a45e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b73d3d01314f42" /><Relationship Type="http://schemas.openxmlformats.org/officeDocument/2006/relationships/chart" Target="/ppt/slides/charts/chart1.xml" Id="R1ea77c2501bd452e" /><Relationship Type="http://schemas.openxmlformats.org/officeDocument/2006/relationships/notesSlide" Target="/ppt/notesSlides/notesSlide10.xml" Id="Rd8ecd488d3c7440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5094834c6646b9" /><Relationship Type="http://schemas.openxmlformats.org/officeDocument/2006/relationships/notesSlide" Target="/ppt/notesSlides/notesSlide11.xml" Id="R807b5dd3f1e0460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8a829d69f049ee" /><Relationship Type="http://schemas.openxmlformats.org/officeDocument/2006/relationships/notesSlide" Target="/ppt/notesSlides/notesSlide12.xml" Id="R07e3f6c62bb54f5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0b473fcee74d25" /><Relationship Type="http://schemas.openxmlformats.org/officeDocument/2006/relationships/notesSlide" Target="/ppt/notesSlides/notesSlide13.xml" Id="R95b76578c756497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87fe4b43cf41a6" /><Relationship Type="http://schemas.openxmlformats.org/officeDocument/2006/relationships/notesSlide" Target="/ppt/notesSlides/notesSlide14.xml" Id="Re8510a3d7f72417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4118d8a3ca454b" /><Relationship Type="http://schemas.openxmlformats.org/officeDocument/2006/relationships/notesSlide" Target="/ppt/notesSlides/notesSlide15.xml" Id="Rda8f92004aa1471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平均问题数</c:v>
          </c:tx>
          <c:spPr>
            <a:solidFill xmlns:a="http://schemas.openxmlformats.org/drawingml/2006/main">
              <a:srgbClr val="0D9488"/>
            </a:solidFill>
          </c:spPr>
          <c:cat>
            <c:strRef>
              <c:f>'Chart Data'!$A$2:$A$3</c:f>
              <c:strCache>
                <c:ptCount val="2"/>
                <c:pt idx="0">
                  <c:v>固定完整表单</c:v>
                </c:pt>
                <c:pt idx="1">
                  <c:v>主动信息增益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17</c:v>
                </c:pt>
                <c:pt idx="1">
                  <c:v>8.25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E1B790-D7D2-4ABC-A774-5852B729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-1524000"/>
            <a:ext cx="4572000" cy="457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A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A97F80-9005-45C0-B7B7-1D948CCE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523875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3D129F-4F93-4C4E-A0C4-8756025D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00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9F7104-6F73-4432-A239-21CD7CD0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惠民智导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C12E0E-A896-4929-8EFF-0E7D80E7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895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CDEFE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CDEFEA"/>
                </a:solidFill>
                <a:latin typeface="Arial"/>
                <a:ea typeface="Arial"/>
                <a:cs typeface="Arial"/>
              </a:rPr>
              <a:t>可信政策智能软件平台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B294A4-307F-4D96-8EBB-88EA9C28A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289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7C7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7C7D4"/>
                </a:solidFill>
                <a:latin typeface="Arial"/>
                <a:ea typeface="Arial"/>
                <a:cs typeface="Arial"/>
              </a:rPr>
              <a:t>模型理解 · 规则裁决 · 原文举证 · 人工发布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B3E8C3-A05F-4306-8B83-D6ED7FF9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48100"/>
            <a:ext cx="1714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3D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19050" rIns="952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2E6D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2E6D8"/>
                </a:solidFill>
                <a:latin typeface="Arial"/>
                <a:ea typeface="Arial"/>
                <a:cs typeface="Arial"/>
              </a:rPr>
              <a:t>AI + 软件创新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02E59C-CD49-4589-B4EA-0FC77D95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48100"/>
            <a:ext cx="2095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3D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19050" rIns="952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2E6D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2E6D8"/>
                </a:solidFill>
                <a:latin typeface="Arial"/>
                <a:ea typeface="Arial"/>
                <a:cs typeface="Arial"/>
              </a:rPr>
              <a:t>社会救助深度验证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458764-F9EA-46BB-AE23-E47794131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67400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EB2C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EB2C1"/>
                </a:solidFill>
                <a:latin typeface="Arial"/>
                <a:ea typeface="Arial"/>
                <a:cs typeface="Arial"/>
              </a:rPr>
              <a:t>策马奔腾队  ·  V0.7.0  ·  RTX 4060 单机本地运行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E3189C-6D40-407B-B0D7-6E6D6CB4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62550"/>
            <a:ext cx="428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可信不是口号，而是每个结论都能回到证据。</a:t>
            </a:r>
          </a:p>
        </p:txBody>
      </p:sp>
    </p:spTree>
    <p:extLst>
      <p:ext uri="{BB962C8B-B14F-4D97-AF65-F5344CB8AC3E}">
        <p14:creationId xmlns:p14="http://schemas.microsoft.com/office/powerpoint/2010/main" val="14704217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1B4FB4-D32A-4B15-946D-F2518CBB0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50ACD8-83A9-454F-B428-085F31C1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WHY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39CF9E-276D-4A75-964A-B2713D68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政策服务不是“搜到答案”这么简单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17FDA1-2B89-4137-B015-E432FCA0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3A0977-96D3-4672-94AE-70A3C67E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269629-D7D6-407F-9013-27650AE53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惠民智导 · 可信政策智能软件平台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E02795-0F8A-483C-B41F-8AC3895E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96050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策马奔腾队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131F47-FA6D-43D3-912C-8B4B5374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3333750" cy="33909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DDF5F0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E48963-AF8A-4DBD-99B1-25C67074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6200" cy="3390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F0457B-A0B9-48BC-9836-3524F9EF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群众端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F27747-CC9A-4A0B-B94D-B9F4727D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291465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术语难懂</a:t>
            </a:r>
          </a:p>
          <a:p xmlns:a="http://schemas.openxmlformats.org/drawingml/2006/main">
            <a:pPr algn="l">
              <a:defRPr sz="15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条件繁多</a:t>
            </a:r>
          </a:p>
          <a:p xmlns:a="http://schemas.openxmlformats.org/drawingml/2006/main">
            <a:pPr algn="l">
              <a:defRPr sz="15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材料不清</a:t>
            </a:r>
          </a:p>
          <a:p xmlns:a="http://schemas.openxmlformats.org/drawingml/2006/main">
            <a:pPr algn="l">
              <a:defRPr sz="15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不知道当前适用哪一版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6BBB1D-43F5-437B-B33A-8BBBB9E7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52600"/>
            <a:ext cx="3333750" cy="33909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713E2D-7993-4D46-B560-C94B6403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52600"/>
            <a:ext cx="76200" cy="3390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4C582D-0D6A-46FC-95AC-5C1B4179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9240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经办端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646737-FD14-4C43-B29C-7A738516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305050"/>
            <a:ext cx="291465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重复问询</a:t>
            </a:r>
          </a:p>
          <a:p xmlns:a="http://schemas.openxmlformats.org/drawingml/2006/main">
            <a:pPr algn="l">
              <a:defRPr sz="15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信息缺失</a:t>
            </a:r>
          </a:p>
          <a:p xmlns:a="http://schemas.openxmlformats.org/drawingml/2006/main">
            <a:pPr algn="l">
              <a:defRPr sz="15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口径更新不一致</a:t>
            </a:r>
          </a:p>
          <a:p xmlns:a="http://schemas.openxmlformats.org/drawingml/2006/main">
            <a:pPr algn="l">
              <a:defRPr sz="15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错误传播成本高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ED6A3D-A15F-4331-80A5-5ABC6CF4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52600"/>
            <a:ext cx="3333750" cy="33909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BE9E7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13341C-8DF3-4A3E-8AC4-5F6DE829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52600"/>
            <a:ext cx="76200" cy="3390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3C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A1620B-6FBB-4783-9D35-2EB8300F5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240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治理端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670F16-B078-4F38-943B-66E21B91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05050"/>
            <a:ext cx="291465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政策转规则慢</a:t>
            </a:r>
          </a:p>
          <a:p xmlns:a="http://schemas.openxmlformats.org/drawingml/2006/main">
            <a:pPr algn="l">
              <a:defRPr sz="15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变更影响不可见</a:t>
            </a:r>
          </a:p>
          <a:p xmlns:a="http://schemas.openxmlformats.org/drawingml/2006/main">
            <a:pPr algn="l">
              <a:defRPr sz="15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新旧版本易混用</a:t>
            </a:r>
          </a:p>
          <a:p xmlns:a="http://schemas.openxmlformats.org/drawingml/2006/main">
            <a:pPr algn="l">
              <a:defRPr sz="15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模型可能自信编造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1B81FC-6A93-4964-ABE9-04BC3459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核心矛盾：政策持续变化，但导办必须可解释、可追溯、可拒答。</a:t>
            </a:r>
          </a:p>
        </p:txBody>
      </p:sp>
    </p:spTree>
    <p:extLst>
      <p:ext uri="{BB962C8B-B14F-4D97-AF65-F5344CB8AC3E}">
        <p14:creationId xmlns:p14="http://schemas.microsoft.com/office/powerpoint/2010/main" val="1905606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3395C6-8724-4797-9322-B3E063F0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935675-0EF8-4B52-875A-C35AB582C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POSITIONING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B58E77-69E4-4DB7-8F1E-A8175718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我们把导办升级为可信政策智能内核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7A7151-D699-480D-9085-2E4E5745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AD18B2-4CA2-41BE-B3CD-1A63B194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1B74DD-EA78-4042-B3AC-886A6160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惠民智导 · 可信政策智能软件平台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2978F7-3695-4508-861B-4D188EC2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96050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策马奔腾队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013022-2F50-4B7A-913E-9D3DF82D1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628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受约束神经符号架构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D9141A-F19A-49BC-9FCA-01B8BA92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让模型进入高价值理解环节，但不让模型越权裁决。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A354D6-ABE9-4E25-ACFA-244967CC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2381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DDF5F0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572FD6-1E17-4420-AC95-6631AC7FB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90900"/>
            <a:ext cx="400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19050" rIns="952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1C5B6A-C3A8-4F01-90CD-6DB79A04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模型理解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E2E714-7984-40C4-8A1B-C12772928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43400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意图、事实、条款候选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2185C3-546B-4873-8D0B-57994A13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9052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7173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DAB947-4DA6-468C-8433-C052E410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19450"/>
            <a:ext cx="2381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A5A742-D79F-4583-8E15-3A1C62784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390900"/>
            <a:ext cx="400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29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19050" rIns="952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2E283B-47A5-4E63-97CF-6FA8FCE7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8862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规则裁决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C3C6EA-EF67-4858-A7D9-CE5CA658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343400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时态规则 + 三值逻辑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E421CE-DBEF-4520-9734-083DC577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9052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7173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066234-4639-4351-A820-099AC6C5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19450"/>
            <a:ext cx="2381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A9D209-BE72-4DC4-B459-868049CE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90900"/>
            <a:ext cx="400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29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19050" rIns="952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9A7BFE-5540-4211-A454-D3BF3A46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862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原文举证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0634BC-FEA4-4840-9197-824B5F8B4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43400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逐字引文 + 来源哈希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6D6D95-DE30-4220-93F4-D98741B4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9052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7173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983A71-6B34-4168-9729-D378F7D5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219450"/>
            <a:ext cx="2381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580EE8-ECCB-41AE-9764-7EDE54F6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90900"/>
            <a:ext cx="400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29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19050" rIns="952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A189B9-9248-4369-8F9C-A2B9345D1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862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人工发布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F42D4A-7F61-40F3-9525-69AA932F1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43400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影响分析 + 双审门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1AB519-7FF3-42A4-804F-C57DDC2A1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695450"/>
            <a:ext cx="4191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19050" rIns="952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A5A0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A5A00"/>
                </a:solidFill>
                <a:latin typeface="Arial"/>
                <a:ea typeface="Arial"/>
                <a:cs typeface="Arial"/>
              </a:rPr>
              <a:t>失败时：拒答 / 降级 / 转人工，不静默放行</a:t>
            </a:r>
          </a:p>
        </p:txBody>
      </p:sp>
    </p:spTree>
    <p:extLst>
      <p:ext uri="{BB962C8B-B14F-4D97-AF65-F5344CB8AC3E}">
        <p14:creationId xmlns:p14="http://schemas.microsoft.com/office/powerpoint/2010/main" val="10936632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E3133B4-086A-47EB-8087-F5F72951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CBB62C-45CD-45D3-BBFC-662DDAEEF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3E994D-8C1C-41FB-B2CB-F533D14E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一次咨询如何形成可信导办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0B4B68-7552-4388-A92B-4F2092CD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976574-BD93-485A-878C-DF507104A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B30E68-5C17-4990-B2FC-79A4711BD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惠民智导 · 可信政策智能软件平台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209563-CFC9-49B5-8A6B-43F14CB4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96050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策马奔腾队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22EDE1-9465-44A8-80FE-FA16D185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18859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DDF5F0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0CF980-83FE-47A4-AD96-56328E6F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3619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909D5C-4B03-4FE3-9DCD-A0E5950C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表达诉求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642A2B-B299-4716-ADEC-F496A935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自然语言 / 示例家庭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83F9C4-98E6-47D3-82D9-75518322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6098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6956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0D479C-1B19-4D9F-8643-1BBC8021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057400"/>
            <a:ext cx="18859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80A597-4A55-40CD-AB32-8E471FED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209800"/>
            <a:ext cx="3619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8FD5D2-4BD5-4531-9BC8-BEE5D7DB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647950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主动补问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476324-BBE2-47A1-9D1F-1AB8B1426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86100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只问最有信息量的问题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420533-D3EC-41DA-BE2F-330AD008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098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6956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529C1D-FE23-4F58-9DBF-655A16C7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057400"/>
            <a:ext cx="18859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F44D4D-BBEF-4504-B4CF-F8FE151E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209800"/>
            <a:ext cx="3619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C474EB-10D3-4B10-9076-07213511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647950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资格预判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5E5ED3-3E30-434F-BE7C-3B234D35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86100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符合 / 可能 / 不足 / 人工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8BA801-47E8-4C7F-B53E-7EFF9AA1E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6098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6956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E3C572-87E2-4790-B2A5-C2FA5C9E8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57400"/>
            <a:ext cx="18859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DDF5F0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DFEA3D-E7AC-47CB-97AD-E85A31C3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209800"/>
            <a:ext cx="3619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CF0631-1529-414B-B411-91DC8A1AA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647950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原文举证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AE3767-F2A5-4B5D-B705-E31BB154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086100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逐字引文、版本、来源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789D55-5F6F-4B50-85A1-0CA5D5327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098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6956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017685-79AF-4CEC-BB9C-77D3A668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57400"/>
            <a:ext cx="18859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818C83-E4EC-422C-8AD6-4C0B6F83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209800"/>
            <a:ext cx="3619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5DA15E-B598-42B3-91C6-489CDCF6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47950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行动建议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8E6BCC-2C71-4924-9477-10793DDE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86100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材料、机构、下一步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1F2100-0B02-4462-B877-A3F59EB73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52387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70BCB2-1D7A-41B4-B104-0D3B53B2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76200" cy="1314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E4A9E0-D2AD-40EC-B421-38B152F9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0"/>
            <a:ext cx="4819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UNKNOWN 是合法答案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63B51C-CE79-4FF7-BF06-B56F8C0C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4819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用户可以不知道或跳过。缺失值不会被偷偷改写为“不符合”。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D1D81D-CA41-4510-9924-1FCC7BFA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10050"/>
            <a:ext cx="52387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005548C-F7CE-4994-BE64-D0B6F204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10050"/>
            <a:ext cx="76200" cy="1314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3C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F7F54D9-512B-4B16-ABF8-27338F9D2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81500"/>
            <a:ext cx="4819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系统从不宣布“已批准”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E86DF35-E6F5-4408-8F01-14D603D2D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762500"/>
            <a:ext cx="4819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输出是导办建议，不替代行政机关审批；高风险场景转人工。</a:t>
            </a:r>
          </a:p>
        </p:txBody>
      </p:sp>
    </p:spTree>
    <p:extLst>
      <p:ext uri="{BB962C8B-B14F-4D97-AF65-F5344CB8AC3E}">
        <p14:creationId xmlns:p14="http://schemas.microsoft.com/office/powerpoint/2010/main" val="1710931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2877CA-4854-4853-9DBF-2A59882A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D37B64-44AE-49AB-ACCA-46A7A3FD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2B136A-A857-4F78-B86C-D66A4B96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一套内核支撑居民、经办与治理三端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DB77B0-1054-40B9-AE7C-6F500644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8EAC11-FA91-44F3-9ADD-6432234AB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1F6549-F858-48E4-B835-BE14D7FC9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惠民智导 · 可信政策智能软件平台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C5B00D-CB76-49A7-B60E-5DBF9DCE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96050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策马奔腾队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7EA713-E13B-41FD-8499-FF9A31FA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00200"/>
            <a:ext cx="9810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734464-4411-4644-8AB4-3D94B09D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7335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交互层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C885B9-C6B5-441E-AEDB-C260756A2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335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居民端  ·  经办工作台  ·  治理工作台  ·  评审演示中心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385D31-66D8-46AC-AE6D-7597F3A3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76500"/>
            <a:ext cx="9810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DF5F0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87DBB4-21B3-4A00-95DF-CEBD355E8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6098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AI 理解层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B6998D-0F65-471E-8977-83AB54700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098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意图分类  ·  字段抽取  ·  OCR  ·  Policy2Rule 候选编译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D510C5-CAF4-4BEA-B9AC-F8811A9DC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52800"/>
            <a:ext cx="9810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3AADDA-1B96-4090-B716-E0E54442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4861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推理与证据层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A60EA2-0F30-4C1C-8785-1F88B5E4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861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时态规则  ·  三值逻辑  ·  主动提问  ·  BM25/向量接口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33F12E-AB6B-4F92-8C4D-153F4066E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29100"/>
            <a:ext cx="9810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BE9E7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33F336-45D6-4550-A484-8F6977319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3624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可信安全层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372FB7-E405-454E-AF51-44777178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624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独立校验器  ·  注入防护  ·  冲突检测  ·  人工发布门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81F11B-88C0-494F-AC11-4DC2C54C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05400"/>
            <a:ext cx="9810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E7A654-1F42-47D1-B04E-7A1C541E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238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工程层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711592-1AFF-4CF7-BDC0-F3441D11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387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FastAPI  ·  SQLite  ·  审计日志  ·  CI  ·  离线降级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2C1EAC-AFDF-4887-A9B1-39B06F3A2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809750"/>
            <a:ext cx="876300" cy="39433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DDF5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同一事实模型</a:t>
            </a:r>
          </a:p>
        </p:txBody>
      </p:sp>
    </p:spTree>
    <p:extLst>
      <p:ext uri="{BB962C8B-B14F-4D97-AF65-F5344CB8AC3E}">
        <p14:creationId xmlns:p14="http://schemas.microsoft.com/office/powerpoint/2010/main" val="21410668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A912B28-3937-44DF-9444-0131836BE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703D98-AED0-418E-812D-4D7D417F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AI CORE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D9EC7A-DEF1-40E1-9D71-D396A075D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Policy2Rule：模型产出候选，不拥有发布权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E89A68-F7F0-4990-B2F2-B0AD8389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4B3A57-CD6D-49B8-B5FD-5A24D543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080E5A-8EAE-4B94-A092-28EE9DB1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惠民智导 · 可信政策智能软件平台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94063C-B1B8-4F30-8A9D-7A8750EB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96050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策马奔腾队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87C422-68CD-4E3E-A5E9-86B438234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0"/>
            <a:ext cx="19812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376E43-3077-4CCB-B9BA-E4949B0F6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4790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1F9717-6FDD-4072-97B3-D1C74D55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860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政策原文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073795-95B3-44AF-8157-F7752E79D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62300"/>
            <a:ext cx="1676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官方网页 / PDF</a:t>
            </a:r>
          </a:p>
          <a:p xmlns:a="http://schemas.openxmlformats.org/drawingml/2006/main">
            <a:pPr algn="l">
              <a:defRPr sz="10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本地快照 + SHA-256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5111F9-4577-44F3-B939-EF458853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8003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77248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377452-F366-4AE1-AA68-DE254E2D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95500"/>
            <a:ext cx="19812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DDF5F0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8643A6-3F62-4584-85EF-76FF3E56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4790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D988A4-36CB-4094-A1BA-D41B2551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860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候选抽取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5F4B04-BE54-4E45-B24A-EBFDB50B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62300"/>
            <a:ext cx="1676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对象、字段、运算符</a:t>
            </a:r>
          </a:p>
          <a:p xmlns:a="http://schemas.openxmlformats.org/drawingml/2006/main">
            <a:pPr algn="l">
              <a:defRPr sz="10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阈值、例外、有效期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C8522D-46E0-4E1E-8FE5-38FFB33DF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8003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77248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54E58A-E209-4E1A-9077-41778D34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95500"/>
            <a:ext cx="19812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4EAB83-0738-4258-A152-69C3A255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24790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D0790C-0605-4F0A-9E70-09481F4F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6860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五重校验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B7F6D0-66D1-4EF6-ADD0-8F8FAC99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162300"/>
            <a:ext cx="1676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Schema / 白名单</a:t>
            </a:r>
          </a:p>
          <a:p xmlns:a="http://schemas.openxmlformats.org/drawingml/2006/main">
            <a:pPr algn="l">
              <a:defRPr sz="10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类型 / 原文子串 / 版本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746ADA-3D62-4E46-95D3-7242A27D7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003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77248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732218-9108-48F7-ABA2-205F4D3D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95500"/>
            <a:ext cx="19812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EC338F-B45A-45AB-ABC7-48AD5C433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4790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7CAE71-7ED9-45F1-B4A1-590E56C53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6860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影响分析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F843EB-EF43-40B4-902B-247F7C76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162300"/>
            <a:ext cx="1676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冻结案例批量回放</a:t>
            </a:r>
          </a:p>
          <a:p xmlns:a="http://schemas.openxmlformats.org/drawingml/2006/main">
            <a:pPr algn="l">
              <a:defRPr sz="10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状态变化与冲突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BED195-90F9-449D-8A1A-F36D82E1B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003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77248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043514-0E17-4DE9-9B4D-BE927134F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095500"/>
            <a:ext cx="19812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BE9E7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B0981F-D304-48A4-9F7F-7F4D014C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24790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3C3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A2A466-74EC-46F0-AB9D-237C18B1D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6860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人工双审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8AC58A-2ABC-4A06-9B3C-6CE6D79D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162300"/>
            <a:ext cx="1676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批准后才进入正式库</a:t>
            </a:r>
          </a:p>
          <a:p xmlns:a="http://schemas.openxmlformats.org/drawingml/2006/main">
            <a:pPr algn="l">
              <a:defRPr sz="10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模型无 publish 权限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F65611-2C2A-4D46-A3B4-218578E5F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14850"/>
            <a:ext cx="2381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2B0B72-2503-4D8A-A1EE-3B7FBD6E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4820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3"/>
                </a:solidFill>
                <a:latin typeface="Arial"/>
                <a:ea typeface="Arial"/>
                <a:cs typeface="Arial"/>
              </a:rPr>
              <a:t>官方条款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0D1081-6646-432D-BCAB-6F173852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1490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11 条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6519BF-82BE-4E6B-AB16-37FB8E7B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真实原文 · 项目组构造金标准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3F2AA6-CD5B-40B8-867B-1950AEC5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514850"/>
            <a:ext cx="2381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F668743-CC9F-405B-9FBA-B64DCABC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64820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3"/>
                </a:solidFill>
                <a:latin typeface="Arial"/>
                <a:ea typeface="Arial"/>
                <a:cs typeface="Arial"/>
              </a:rPr>
              <a:t>逐字锚定率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2459E53-FC55-4234-8535-B30008F0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91490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1.000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F168A55-E8FB-4822-915D-FDC8C644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542925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候选引文是原文连续子串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9878A83-2EE9-4E57-9A2D-E6806ED1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514850"/>
            <a:ext cx="2381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A52DDAA-D361-492B-B07B-AC4CD4EF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64820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3"/>
                </a:solidFill>
                <a:latin typeface="Arial"/>
                <a:ea typeface="Arial"/>
                <a:cs typeface="Arial"/>
              </a:rPr>
              <a:t>条件字段 F1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D22CB3C-14D6-4787-B26B-97A83F41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91490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B9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5B942"/>
                </a:solidFill>
                <a:latin typeface="Arial"/>
                <a:ea typeface="Arial"/>
                <a:cs typeface="Arial"/>
              </a:rPr>
              <a:t>0.727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7E0C7D4-1C0C-4F5E-B734-0A3FEAA32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2925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复杂条件仍是重点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4F8457A-B401-41B0-9588-7426A472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514850"/>
            <a:ext cx="2381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3762C8D-8753-49D3-98D7-C0575CB9A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64820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3"/>
                </a:solidFill>
                <a:latin typeface="Arial"/>
                <a:ea typeface="Arial"/>
                <a:cs typeface="Arial"/>
              </a:rPr>
              <a:t>参数 F1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A0A7554-C68E-487B-8B59-5762C985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91490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43C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43C35"/>
                </a:solidFill>
                <a:latin typeface="Arial"/>
                <a:ea typeface="Arial"/>
                <a:cs typeface="Arial"/>
              </a:rPr>
              <a:t>0.500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70D87DC-3F3E-4079-ACA6-A2E8DFD6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42925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如实披露，不掩盖短板</a:t>
            </a:r>
          </a:p>
        </p:txBody>
      </p:sp>
    </p:spTree>
    <p:extLst>
      <p:ext uri="{BB962C8B-B14F-4D97-AF65-F5344CB8AC3E}">
        <p14:creationId xmlns:p14="http://schemas.microsoft.com/office/powerpoint/2010/main" val="8744892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A4CF61-17EB-4D1A-A8DE-809FB918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19EB9E-0BB6-49B4-A399-B938AB11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AI CORE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96FDA0-062E-4DAE-9BBC-75079E7D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时态规则 + 三值逻辑：防止最危险的“想当然”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27B11A-B6AC-4F28-B1BC-A4C0640D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6953E9-7575-406D-B8FB-CF4949C7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DEC5CB-A32F-41BC-B76A-03B82E80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惠民智导 · 可信政策智能软件平台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5545F6-AD7F-4D72-9D8B-52988F53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96050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策马奔腾队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B44B51-A212-4CAE-B1F0-0722F276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同一问题，不同日期可能有不同答案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A5A385-EFCA-471D-8101-BAA2319E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619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600F08-3C4F-4779-A0D8-60F8D957E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574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85C24E-31DA-46F2-92F7-CC365525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574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7A55AD-708B-4D58-9CDD-9A03B4B7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574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2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837F69-0CEF-450A-BAAC-3020C974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旧版生效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045993-E3BE-4651-93EA-4B1D7B02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10515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A5A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A5A00"/>
                </a:solidFill>
                <a:latin typeface="Arial"/>
                <a:ea typeface="Arial"/>
                <a:cs typeface="Arial"/>
              </a:rPr>
              <a:t>版本切换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994388-7F4E-4519-A3FC-60359C8A3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105150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查询日期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91BF52-EABE-4BA6-9780-9229C9AC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6667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67888C-5BA2-4E6C-86C6-F406ADAB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88D1BC-2596-4541-9754-B045D753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62400"/>
            <a:ext cx="624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检索先过滤，再召回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1A4A30-929B-4632-84DD-25222AEFA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624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先按地区与查询日期筛选有效版本；过期、未生效和跨地区片段进入排除列表，并解释“为什么没采用”。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71FA63-04A8-4BA6-8E8B-4E2A5720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71650"/>
            <a:ext cx="32194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DF5F0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6B9DBA-EF3C-4C77-8E7A-40C5D8ECE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240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TRUE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CA5467-CB69-4970-BAE7-60D126838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条件满足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A89D73-5D6D-4D24-817B-7248E19F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71800"/>
            <a:ext cx="32194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BE9E7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90B065-CEF3-4948-9E61-6D92F8A4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242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43C3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43C35"/>
                </a:solidFill>
                <a:latin typeface="Arial"/>
                <a:ea typeface="Arial"/>
                <a:cs typeface="Arial"/>
              </a:rPr>
              <a:t>FALSE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9D115C-2B90-4751-97F9-87FC967E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861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条件明确不满足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66F25E-924D-487E-A476-B449457A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71950"/>
            <a:ext cx="32194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143634-DC34-45C3-9D81-0ACAE405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243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A5A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A5A00"/>
                </a:solidFill>
                <a:latin typeface="Arial"/>
                <a:ea typeface="Arial"/>
                <a:cs typeface="Arial"/>
              </a:rPr>
              <a:t>UNKNOWN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1DE5AF-93DF-4405-BC46-2A92ACFB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6863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关键事实缺失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DB3F38-F349-47F9-87EA-3D41E69E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619750"/>
            <a:ext cx="320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UNKNOWN 不等于 FALSE</a:t>
            </a:r>
          </a:p>
        </p:txBody>
      </p:sp>
    </p:spTree>
    <p:extLst>
      <p:ext uri="{BB962C8B-B14F-4D97-AF65-F5344CB8AC3E}">
        <p14:creationId xmlns:p14="http://schemas.microsoft.com/office/powerpoint/2010/main" val="1890333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A44AB22-A172-4569-8C27-E850A1BBB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A37330-783A-49F7-8A2A-9C91B30A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TRUST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038E37-5F69-4E7C-A3B2-416B41B8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每个结论都能回到逐字政策原文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CED1D5-7B37-4B8E-92C4-F3525C3F4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BBFCC4-52EA-473E-BF24-0C87B714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C8EE42-8810-4477-84F4-C7444C3E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惠民智导 · 可信政策智能软件平台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56BCF3-16D3-4941-A281-684F90EA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96050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策马奔腾队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79F13F-6AA8-4F79-A316-09235B8A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1809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0F2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836CF9-AB46-4A77-BDBC-3EA852264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955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导办结论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4FECF5-A62E-45C2-A4F9-B2D7B694D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28950"/>
            <a:ext cx="1504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可能符合</a:t>
            </a:r>
          </a:p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需补充家庭收入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B1D301-9822-43E3-B941-3EEB772C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908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77248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BA5FB1-5DD3-4819-880A-1DCE8B03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86000"/>
            <a:ext cx="1809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42A7FF-4961-47E3-B3EA-972AA1E8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955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规则条件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60AA8C-F1B6-44B4-8A3E-935DF043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028950"/>
            <a:ext cx="1504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income_per_capita</a:t>
            </a:r>
          </a:p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&lt;= local_standard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3548C1-A0CD-4CEF-8624-02F0E312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908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77248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98256D-6211-48DB-9C03-931423A87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86000"/>
            <a:ext cx="1809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1C4948-2344-45BB-8D11-769E5D6A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4955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逐字引文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0419BC-881E-4373-9304-74B0FF46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028950"/>
            <a:ext cx="1504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F2942"/>
                </a:solidFill>
                <a:latin typeface="Arial"/>
                <a:ea typeface="Arial"/>
                <a:cs typeface="Arial"/>
              </a:rPr>
              <a:t>原文连续子串</a:t>
            </a:r>
          </a:p>
          <a:p xmlns:a="http://schemas.openxmlformats.org/drawingml/2006/main">
            <a:pPr algn="ctr">
              <a:defRPr sz="1050" b="0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F2942"/>
                </a:solidFill>
                <a:latin typeface="Arial"/>
                <a:ea typeface="Arial"/>
                <a:cs typeface="Arial"/>
              </a:rPr>
              <a:t>不允许模型改写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755094-91B6-4B47-925F-14D8EC64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9908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77248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CC344D-FD7F-4EFA-BE82-380CEBA7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86000"/>
            <a:ext cx="1809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3B7A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0DB3C1-046D-4377-9485-A2AA227F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4955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来源快照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EB68BD-752F-4A02-8B57-E1B449EB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28950"/>
            <a:ext cx="1504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URL / 文件定位</a:t>
            </a:r>
          </a:p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发布日期 / 地区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C4CE79-EA5C-468F-8F79-2A4B4F8F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908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77248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626202-3F51-46D1-A3DA-8054CB05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286000"/>
            <a:ext cx="1809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071A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D513D4-CBD8-4680-BD2D-D7852431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4955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完整性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4FC6CF-79A9-4B27-88FF-54542266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028950"/>
            <a:ext cx="1504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SHA-256</a:t>
            </a:r>
          </a:p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审计时间 / 复核状态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B89E93-21A2-43C7-8212-2AF79AB9A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2476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FCB1EC-DD85-4AFC-8ED8-A516EF47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1965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3"/>
                </a:solidFill>
                <a:latin typeface="Arial"/>
                <a:ea typeface="Arial"/>
                <a:cs typeface="Arial"/>
              </a:rPr>
              <a:t>证据逐字审计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08FE29-4F79-4CCC-B088-DD2FC8CCE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08635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18 / 18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2A3B55-06DD-480F-A030-EA6293D09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60070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本地快照子串核验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A5B494-00EF-476A-9A00-B24F8E44D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86300"/>
            <a:ext cx="2476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21DD34-9A96-40DA-A391-32DD5B33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81965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3"/>
                </a:solidFill>
                <a:latin typeface="Arial"/>
                <a:ea typeface="Arial"/>
                <a:cs typeface="Arial"/>
              </a:rPr>
              <a:t>检索 Recall@3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4D3A02-AF29-40DC-B893-8C8339F6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08635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1.000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39ED63-E9F9-4F60-B815-286111FB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60070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12 条项目内冻结问题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1E8334-A961-44B1-80EF-CA7A9296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86300"/>
            <a:ext cx="2476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703138-E940-4962-A106-E1B9580A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81965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3"/>
                </a:solidFill>
                <a:latin typeface="Arial"/>
                <a:ea typeface="Arial"/>
                <a:cs typeface="Arial"/>
              </a:rPr>
              <a:t>MRR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4975F69-BA93-47C7-9EEB-1A2CA5E6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08635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0.958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16E791F-0B6D-4F81-84AB-846197FD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60070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数据性质已明确标注</a:t>
            </a:r>
          </a:p>
        </p:txBody>
      </p:sp>
    </p:spTree>
    <p:extLst>
      <p:ext uri="{BB962C8B-B14F-4D97-AF65-F5344CB8AC3E}">
        <p14:creationId xmlns:p14="http://schemas.microsoft.com/office/powerpoint/2010/main" val="17710652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1299B10-6622-40B3-B0B2-F68FA712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FFA777-954D-494C-A2B2-76CDC939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AI CORE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FE4CE5-8488-4264-A242-FDF61170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主动信息增益提问：少问，但不漏问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E47087-66CA-4D6B-853C-8D1320DD3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905109-231B-4236-B3A8-4D429DD4B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274DDD-C197-4762-AF9E-4E434150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惠民智导 · 可信政策智能软件平台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6D8934-0130-4264-B624-740D82D4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96050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策马奔腾队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29E3C0-8269-4FD3-8493-D2E39F56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409575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31A563-D12E-463E-B1C6-CC23D221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76200" cy="1638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62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BAB833-04B5-4A71-ADF7-D982B5EB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28800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9420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传统表单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1C6C1E-4371-420C-B77C-424615AB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9800"/>
            <a:ext cx="3676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按固定顺序询问 17 个字段</a:t>
            </a:r>
          </a:p>
          <a:p xmlns:a="http://schemas.openxmlformats.org/drawingml/2006/main">
            <a:pPr algn="l">
              <a:defRPr sz="12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用户负担高，且很多问题与当前事项无关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1FC361-32A7-4EF7-A064-BBC18F91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409575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DDF5F0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21D044-46B1-4FFD-B21B-B2490E38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76200" cy="1638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284F3D-8DA9-4484-A5D3-E02F8D4D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0000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9420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主动策略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E6B967-479E-4E8A-BB0C-F76F5431B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91000"/>
            <a:ext cx="3676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计算缺失事实对事项状态的区分能力</a:t>
            </a:r>
          </a:p>
          <a:p xmlns:a="http://schemas.openxmlformats.org/drawingml/2006/main">
            <a:pPr algn="l">
              <a:defRPr sz="12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优先问最能减少不确定性的问题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444A5D-E6FB-4BC9-928E-D5125FB3F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19250"/>
            <a:ext cx="224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信息增益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670D16-4D0C-4FDC-AB43-3F32658E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192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26273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649486-3A23-48E8-B4A4-0524F3DBE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6192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43C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43C35"/>
                </a:solidFill>
                <a:latin typeface="Arial"/>
                <a:ea typeface="Arial"/>
                <a:cs typeface="Arial"/>
              </a:rPr>
              <a:t>风险优先级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EBC0DA-CD16-45C5-87B0-139EC9CB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209800"/>
            <a:ext cx="485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662160-4BC9-4A56-B0C2-03D563BB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76500"/>
            <a:ext cx="5810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942153-20C4-4A9B-AD66-9FA2CED6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628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B48BD8-93A1-4350-A92A-4439EE83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571750"/>
            <a:ext cx="331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家庭人口与共同生活成员？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67DBB5-4E5D-4C21-9748-293D8008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717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事项区分度高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9A4A6D-37CE-479F-A3B8-E37F7A5F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219450"/>
            <a:ext cx="5810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C299A4-0FF3-44A3-9710-489F2DF3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3718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C0230D-3F5E-445B-B04F-7116FE824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14700"/>
            <a:ext cx="331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当前收入信息是否明确？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39A8CE-8207-424D-B5BD-998599FC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3147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直接影响多项规则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AE9C21-2140-4375-AA6D-FBC9E8A0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62400"/>
            <a:ext cx="5810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FCC114-27D6-4580-AA23-3DF2CE41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148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3C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5A734E-80D7-4F23-8FEC-628B7225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57650"/>
            <a:ext cx="331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是否存在紧急风险？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2053DF-B090-4D57-8801-0576AB43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0576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高风险优先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EC2299-4744-420B-B6F9-3FBDBAA1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705350"/>
            <a:ext cx="5810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4EBD49-8FE5-4EC3-9312-9884FAB0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8577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3C22AE7-5E44-4575-945C-B9A2DF6C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800600"/>
            <a:ext cx="331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无法确认？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9AFDCCA-602A-4DB7-B725-FA09A297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8006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保留 UNKNOWN，可跳过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4397B9E-D499-4075-ADC3-93B760087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63880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240 个合成案例 · 状态一致性 100% · 紧急风险漏检 0</a:t>
            </a:r>
          </a:p>
        </p:txBody>
      </p:sp>
    </p:spTree>
    <p:extLst>
      <p:ext uri="{BB962C8B-B14F-4D97-AF65-F5344CB8AC3E}">
        <p14:creationId xmlns:p14="http://schemas.microsoft.com/office/powerpoint/2010/main" val="17999728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FA2178-D408-4974-A8E4-2499E1F2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5DFDE0-0F9C-4A8C-A83E-757F704A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C31A75-A2C0-4426-A187-4E1A3318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可复现实验：效率、安全与工程同时量化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F48C39-95BE-4DEA-BBBD-96E7045B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756421-4008-4FB3-AF00-9C832246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76ACF4-E761-4F02-B62F-FBF926C28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惠民智导 · 可信政策智能软件平台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162534-0952-4AB9-BAB3-260FC5083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96050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策马奔腾队</a:t>
            </a:r>
          </a:p>
        </p:txBody>
      </p:sp>
      <p:graphicFrame>
        <p:nvGraphicFramePr>
          <p:cNvPr id="34" name="Chart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51435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ea77c2501bd452e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CC8413-0FC4-4910-8E10-AC2CEE4A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387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平均问题数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4F28B5-96DF-4C03-82DD-E6B515D9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52600"/>
            <a:ext cx="2381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988681-24E5-49D1-8668-F96B7A00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8595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3"/>
                </a:solidFill>
                <a:latin typeface="Arial"/>
                <a:ea typeface="Arial"/>
                <a:cs typeface="Arial"/>
              </a:rPr>
              <a:t>提问减少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40053D-3A0F-4DC1-BB5E-E883A114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5265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51.47%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21EE52-00B6-40C4-AF42-484A8FB1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6700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相对 17 字段完整表单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F785DD-CBBF-4480-8223-FDB014CD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52600"/>
            <a:ext cx="2381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093122-E21D-4261-BD0D-044CCF23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8595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3"/>
                </a:solidFill>
                <a:latin typeface="Arial"/>
                <a:ea typeface="Arial"/>
                <a:cs typeface="Arial"/>
              </a:rPr>
              <a:t>安全回归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E887E9-99AC-429B-8BD7-4CF64BCE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5265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100 / 100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DF7211-1233-43E2-AD18-13D814120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6700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项目内高风险集通过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3773E0-62BC-46C3-99FD-7422B4AA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76600"/>
            <a:ext cx="2381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0B98E8-64F3-458A-8C41-C47A793C0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0995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3"/>
                </a:solidFill>
                <a:latin typeface="Arial"/>
                <a:ea typeface="Arial"/>
                <a:cs typeface="Arial"/>
              </a:rPr>
              <a:t>并发 30 · P95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1B24E2-78FB-4554-87F5-ED81A08B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7665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439.8 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2B9245-C3FA-4B4A-AD5A-6694354C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9100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本机回环 Uvicorn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04E05E-7127-417C-93DB-3BEE723E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76600"/>
            <a:ext cx="2381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71AF63-C112-47D4-B984-50CD4B90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0995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3"/>
                </a:solidFill>
                <a:latin typeface="Arial"/>
                <a:ea typeface="Arial"/>
                <a:cs typeface="Arial"/>
              </a:rPr>
              <a:t>自动测试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C7D5E8-CF78-4686-99DA-E0E512F9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67665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64 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ED195A-CBCD-472F-B1FF-764677EC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19100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全量 Pytest 当前通过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E1FF25-A3E6-4BEE-8FFE-74698153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10150"/>
            <a:ext cx="5048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Qwen3画像 F1 1.000 · P95 2.592 s</a:t>
            </a:r>
          </a:p>
          <a:p xmlns:a="http://schemas.openxmlformats.org/drawingml/2006/main">
            <a:pPr algn="ctr">
              <a:defRPr sz="127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混合检索 P95 430 ms · 12/12真实路由</a:t>
            </a:r>
          </a:p>
        </p:txBody>
      </p:sp>
    </p:spTree>
    <p:extLst>
      <p:ext uri="{BB962C8B-B14F-4D97-AF65-F5344CB8AC3E}">
        <p14:creationId xmlns:p14="http://schemas.microsoft.com/office/powerpoint/2010/main" val="15690697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804247C-B2D4-4813-830B-5F3907535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486D09-42FE-4AB3-BCAD-68C59506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SAFETY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2E312A-C9ED-48BB-B5DB-8F6AE004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八组消融证明：可信机制不是界面装饰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527C15-4460-4BBF-B555-3307E1F7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C49B8C-2C5B-4092-8B68-CEE51D83F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C62D81-A7FE-4FF9-AAFE-419DE5F76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惠民智导 · 可信政策智能软件平台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ACC378-7AB3-4EAF-A996-990DC7295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96050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策马奔腾队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D0E8DD-1B56-4EB7-9EAB-49F920A9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51054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ED7EED-3DBF-4282-A1C3-FE919767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857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C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FB2D74-C9F7-4835-AE47-D97EB03C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三值逻辑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AC78CF-7125-43CE-B32A-DF800B85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47850"/>
            <a:ext cx="1943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C43C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43C35"/>
                </a:solidFill>
                <a:latin typeface="Arial"/>
                <a:ea typeface="Arial"/>
                <a:cs typeface="Arial"/>
              </a:rPr>
              <a:t>204 / 240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1A9860-C431-44A7-8808-6E04D376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453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若强制二值化，将产生武断结果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F0D23F-73AB-4FDC-9C55-6BC93183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51054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829BB8-C8EB-4C5A-BA99-A0308974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857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C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D55E17-C0AD-46EE-93C5-86886517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859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证据门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FC1132-943C-4C86-9BB2-5563DF1B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847850"/>
            <a:ext cx="1943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C43C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43C35"/>
                </a:solidFill>
                <a:latin typeface="Arial"/>
                <a:ea typeface="Arial"/>
                <a:cs typeface="Arial"/>
              </a:rPr>
              <a:t>4320 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2FFEC8-1133-46EE-A9BE-C8FC986E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38400"/>
            <a:ext cx="453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关闭后条件失去可追溯证据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A71AEC-50C9-4B63-BFE7-1B5E0ADF6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51054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301496-2456-4ADA-BF6C-C7C281E25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857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89E2D6-2FD7-4EC8-B199-6695FD1C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主动提问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9AA186-C538-410E-98E7-A39579626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638550"/>
            <a:ext cx="1943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F5B9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5B942"/>
                </a:solidFill>
                <a:latin typeface="Arial"/>
                <a:ea typeface="Arial"/>
                <a:cs typeface="Arial"/>
              </a:rPr>
              <a:t>+2.75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244797-5434-4C94-8EE9-CB315BE40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29100"/>
            <a:ext cx="453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固定提问平均额外问题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A2E22E-9460-4D58-B82F-42A635F3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05200"/>
            <a:ext cx="51054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043798-AC79-4E34-8553-06E3151B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05200"/>
            <a:ext cx="857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34FA62-CDFD-4CF7-A595-3793CF56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76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人工发布门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C02292-D2C4-4A30-A8EE-20F73923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38550"/>
            <a:ext cx="1943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11 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857390-B54A-482B-BCBA-537289B0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29100"/>
            <a:ext cx="453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自动发布候选全部被阻断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DB6EF0-F4B1-459C-9CB9-AA0B9F9D0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100 条高风险回归覆盖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1EF15B-2DEB-426E-8DF9-43C02F8D9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543550"/>
            <a:ext cx="1524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5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19050" rIns="952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UNKNOWN 保留 25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87937F-783E-4D82-974E-F0CF5678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543550"/>
            <a:ext cx="1524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2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19050" rIns="952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时间边界 20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16F288-4741-40BF-A4D5-5A48D8FF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543550"/>
            <a:ext cx="1524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2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19050" rIns="952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越权问题 20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FCB265-6667-4005-BC72-C668D155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543550"/>
            <a:ext cx="1524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2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19050" rIns="952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提示注入 20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5926D2-8410-4CC7-8F5A-2E2FE663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5543550"/>
            <a:ext cx="1524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2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19050" rIns="952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发布门 15</a:t>
            </a:r>
          </a:p>
        </p:txBody>
      </p:sp>
    </p:spTree>
    <p:extLst>
      <p:ext uri="{BB962C8B-B14F-4D97-AF65-F5344CB8AC3E}">
        <p14:creationId xmlns:p14="http://schemas.microsoft.com/office/powerpoint/2010/main" val="11615756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7BB110-FE44-4E7F-842D-E6CB4BE9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5E0D13-E4AE-4835-A6B5-95576F7C0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552A7C-3081-4035-AF6C-281A989BB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从居民咨询到政策治理的完整软件闭环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79B17C-B7EA-423F-8500-AFC80475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E93D6B-CE65-43AD-A150-7ABA215B3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A390B1-55B2-473B-9E16-0B92ED20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惠民智导 · 可信政策智能软件平台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5EBF94-DEDA-4E97-B057-06648B198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96050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策马奔腾队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C2FA7E-E520-4FF9-9673-CE4AE990C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333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DF5F0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C67E53-0F55-4A32-BB20-42BD8C89D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EE9EEE-C3A7-4B44-9631-87E0E6709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居民智能导办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B289BF-E364-4BC8-874E-BEDDE80C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诉求解析 · 主动补问</a:t>
            </a:r>
          </a:p>
          <a:p xmlns:a="http://schemas.openxmlformats.org/drawingml/2006/main">
            <a:pPr algn="l">
              <a:defRPr sz="11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资格预判 · 下一步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E2FF4C-86A9-42F5-904E-A9D3AEE0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14500"/>
            <a:ext cx="3333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8F2F8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39CEF7-B729-4524-BDD4-A4DAA7DB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859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0B2F07-84BE-4747-A06A-442627E7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669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政策证据检索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81E326-C8E8-4904-963B-A0725DF5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4320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地区/日期过滤</a:t>
            </a:r>
          </a:p>
          <a:p xmlns:a="http://schemas.openxmlformats.org/drawingml/2006/main">
            <a:pPr algn="l">
              <a:defRPr sz="11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逐字引文 · 排除解释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FFA4D5-3806-4097-A4E3-2F3AFF806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14500"/>
            <a:ext cx="3333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CE2338-C6ED-4FA7-B406-4D7EE5B5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859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128BFC-8DFB-4CC4-85AE-D4E462741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669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材料智能预检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29D1CD-FADD-4592-A271-9CA93AC2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4320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OCR 候选字段</a:t>
            </a:r>
          </a:p>
          <a:p xmlns:a="http://schemas.openxmlformats.org/drawingml/2006/main">
            <a:pPr algn="l">
              <a:defRPr sz="11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质量提醒 · 人工确认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3B1697-50ED-4AE6-8803-6A94D6AD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3333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C9AB54-D074-46E8-B60D-7295B42A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814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B08383-0B01-4D0D-8451-22D789FC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624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经办工作台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DB1B0A-5333-4A67-A15A-D34B3DBB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3870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五事项摘要</a:t>
            </a:r>
          </a:p>
          <a:p xmlns:a="http://schemas.openxmlformats.org/drawingml/2006/main">
            <a:pPr algn="l">
              <a:defRPr sz="11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缺失信息 · 风险标记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251D0D-0D3B-457B-845C-CE5E2449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10000"/>
            <a:ext cx="3333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BE9E7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694E58-9817-46C8-8526-FE1889FD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814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645E4A-4413-4390-82F3-7BDF48DC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624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治理工作台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476111-800B-4106-9555-AFCC6215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3870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候选规则 · 版本差异</a:t>
            </a:r>
          </a:p>
          <a:p xmlns:a="http://schemas.openxmlformats.org/drawingml/2006/main">
            <a:pPr algn="l">
              <a:defRPr sz="11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影响分析 · 双审发布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752B12-6235-4860-8848-5D039FF99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10000"/>
            <a:ext cx="3333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DF5F0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6896F5-052F-4CC6-9410-C19D0925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814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EA676B-27BC-481D-8967-902034AE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624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评审演示中心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50C05C-644F-445D-A92D-4ACF8211A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3870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A–F 六条路径</a:t>
            </a:r>
          </a:p>
          <a:p xmlns:a="http://schemas.openxmlformats.org/drawingml/2006/main">
            <a:pPr algn="l">
              <a:defRPr sz="11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现场稳定复现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D72B2C-06FE-4E2C-A7AA-6F5198B2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687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一套事实模型 · 一条证据链 · 一套回归体系</a:t>
            </a:r>
          </a:p>
        </p:txBody>
      </p:sp>
    </p:spTree>
    <p:extLst>
      <p:ext uri="{BB962C8B-B14F-4D97-AF65-F5344CB8AC3E}">
        <p14:creationId xmlns:p14="http://schemas.microsoft.com/office/powerpoint/2010/main" val="151710144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8E2D4DC-C126-453E-BE93-77767ECB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E40744-367D-4D2F-B28B-CECFDD60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AC6CD8-58BE-44BF-B11F-57694474D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单机可运行、可测试、可审计、可打包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D5B06D-2160-4781-858F-BB23896F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F5CE99-2F17-4699-ACE5-AF78F33F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C93D24-D5C9-405E-B2F6-9D1B383E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惠民智导 · 可信政策智能软件平台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702258-5431-4C9A-BE92-A1FB77C9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96050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策马奔腾队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CFECA4-5A08-40D4-83A2-9E31FB77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3333750" cy="34290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21BDDB-A47A-4766-B946-3434D17E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6215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运行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8AC532-B534-4286-9D64-C3FA8C3E5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1AA844-5427-44A0-8741-BE335F9A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71750"/>
            <a:ext cx="259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F2942"/>
                </a:solidFill>
                <a:latin typeface="Arial"/>
                <a:ea typeface="Arial"/>
                <a:cs typeface="Arial"/>
              </a:rPr>
              <a:t>Python 3.12 + FastAPI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F07952-92F4-4C87-AF55-D8A16B0E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2C69DC-0CF7-49DB-B58B-19626FABE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24200"/>
            <a:ext cx="259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F2942"/>
                </a:solidFill>
                <a:latin typeface="Arial"/>
                <a:ea typeface="Arial"/>
                <a:cs typeface="Arial"/>
              </a:rPr>
              <a:t>Qwen3 双模型 100% GPU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F572E4-5CE9-4BE6-8231-D539518B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90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DCECEA-D6A9-4759-89A3-228E4E66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76650"/>
            <a:ext cx="259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F2942"/>
                </a:solidFill>
                <a:latin typeface="Arial"/>
                <a:ea typeface="Arial"/>
                <a:cs typeface="Arial"/>
              </a:rPr>
              <a:t>PowerShell 一键启停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74D015-18F3-48C8-97CC-E4A179C3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43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DB572D-3FCF-4737-B989-C2CF36EF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29100"/>
            <a:ext cx="259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F2942"/>
                </a:solidFill>
                <a:latin typeface="Arial"/>
                <a:ea typeface="Arial"/>
                <a:cs typeface="Arial"/>
              </a:rPr>
              <a:t>模型不可用显式降级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A4728A-2FBC-4C71-9ABB-331F43000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52600"/>
            <a:ext cx="3333750" cy="34290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DDF5F0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5F4F96-9AEC-4413-A0D6-F8D2EF01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6215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质量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93206D-06C1-4A55-94FD-A35E6244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86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27EFF4-66C4-4629-A12E-F85C7EDC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571750"/>
            <a:ext cx="259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F2942"/>
                </a:solidFill>
                <a:latin typeface="Arial"/>
                <a:ea typeface="Arial"/>
                <a:cs typeface="Arial"/>
              </a:rPr>
              <a:t>64 项自动测试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4F6D60-4A6F-40ED-A69E-EA0F0D8E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38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9770FE-4280-415B-845F-049F91E51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124200"/>
            <a:ext cx="259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F2942"/>
                </a:solidFill>
                <a:latin typeface="Arial"/>
                <a:ea typeface="Arial"/>
                <a:cs typeface="Arial"/>
              </a:rPr>
              <a:t>100 条高风险回归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BA14FA-C2D9-47CB-9A28-49D5E06BA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90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138EC9-A565-4FA9-984D-168C767B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676650"/>
            <a:ext cx="259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F2942"/>
                </a:solidFill>
                <a:latin typeface="Arial"/>
                <a:ea typeface="Arial"/>
                <a:cs typeface="Arial"/>
              </a:rPr>
              <a:t>前端路由契约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9259E5-C2BA-4611-A273-96E8DD61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343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79DF19-55A2-4226-82E9-F3DEDE360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229100"/>
            <a:ext cx="259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F2942"/>
                </a:solidFill>
                <a:latin typeface="Arial"/>
                <a:ea typeface="Arial"/>
                <a:cs typeface="Arial"/>
              </a:rPr>
              <a:t>六条演示路径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E71605-A717-447D-A5C4-A58DB5394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52600"/>
            <a:ext cx="3333750" cy="34290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A39DE7-922D-48D6-BD26-B04715BF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6215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供应链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278AC5-FBE6-4741-910B-371BC46BA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86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356240-E76F-4029-BF3A-358DD97D5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259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F2942"/>
                </a:solidFill>
                <a:latin typeface="Arial"/>
                <a:ea typeface="Arial"/>
                <a:cs typeface="Arial"/>
              </a:rPr>
              <a:t>46 项锁定依赖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063470-E3CF-4A68-AFD7-83FE7ED4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38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C898E2-31CD-4CD9-816E-AE1917F2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24200"/>
            <a:ext cx="259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F2942"/>
                </a:solidFill>
                <a:latin typeface="Arial"/>
                <a:ea typeface="Arial"/>
                <a:cs typeface="Arial"/>
              </a:rPr>
              <a:t>SBOM 软件物料清单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21921FC-BFD3-431B-9191-21840F41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90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CA8A783-09CA-4B68-A22B-6C3B9FAD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259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F2942"/>
                </a:solidFill>
                <a:latin typeface="Arial"/>
                <a:ea typeface="Arial"/>
                <a:cs typeface="Arial"/>
              </a:rPr>
              <a:t>已知漏洞 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570F512-2E98-41E0-B822-1301F10D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43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DA93DCA-5B4F-4D36-87E7-6A3161ED5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29100"/>
            <a:ext cx="259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F2942"/>
                </a:solidFill>
                <a:latin typeface="Arial"/>
                <a:ea typeface="Arial"/>
                <a:cs typeface="Arial"/>
              </a:rPr>
              <a:t>数据与源码哈希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8B339E-0B53-459F-8DE4-4637EA6A2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6870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8F2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reproduce_phase12.ps1  →  重跑评测、清单、SBOM 与并发测试</a:t>
            </a:r>
          </a:p>
        </p:txBody>
      </p:sp>
    </p:spTree>
    <p:extLst>
      <p:ext uri="{BB962C8B-B14F-4D97-AF65-F5344CB8AC3E}">
        <p14:creationId xmlns:p14="http://schemas.microsoft.com/office/powerpoint/2010/main" val="93061921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926CFC-8DFD-471F-9333-1916D187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F6C9CC-E995-4D27-B5BF-6B16A8CA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948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9488"/>
                </a:solidFill>
                <a:latin typeface="Arial"/>
                <a:ea typeface="Arial"/>
                <a:cs typeface="Arial"/>
              </a:rPr>
              <a:t>HONESTY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652EFB-78C7-4C12-AEEB-D9BE3A20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我们明确知道：什么已经证明，什么尚未证明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27B33A-5954-49BC-B5E8-C23C4BB8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665869-F98A-4C3D-B679-718B8C7C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273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94710B-BFB2-4ED6-8E7A-436946C4D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惠民智导 · 可信政策智能软件平台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0F93D6-377A-4B80-808A-BF6AA91E3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96050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策马奔腾队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A58B1C-69C9-4C2A-9D5B-41522074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5105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DDF5F0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AAD177-0F57-4295-B59C-8E9835B8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76200" cy="3429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D3A699-2A38-4B51-853A-144E874B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已经可验证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97238F-38C7-4226-BE37-E71C9BD7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46863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✓ 可信软件闭环可运行</a:t>
            </a:r>
          </a:p>
          <a:p xmlns:a="http://schemas.openxmlformats.org/drawingml/2006/main">
            <a:pPr algn="l">
              <a:defRPr sz="15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✓ 规则与证据逐字追溯</a:t>
            </a:r>
          </a:p>
          <a:p xmlns:a="http://schemas.openxmlformats.org/drawingml/2006/main">
            <a:pPr algn="l">
              <a:defRPr sz="15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✓ Qwen3双模型GPU冻结评测</a:t>
            </a:r>
          </a:p>
          <a:p xmlns:a="http://schemas.openxmlformats.org/drawingml/2006/main">
            <a:pPr algn="l">
              <a:defRPr sz="15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✓ 高风险输出被工程护栏阻断</a:t>
            </a:r>
          </a:p>
          <a:p xmlns:a="http://schemas.openxmlformats.org/drawingml/2006/main">
            <a:pPr algn="l">
              <a:defRPr sz="15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✓ 单机并发与供应链状态可检查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8B9561-29BB-4907-84BE-3CC4FEB1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5105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0522AA-74DE-465D-9827-469E7540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76200" cy="3429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F93BE7-97E0-4071-8394-3BE99CC9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85950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仍需真人完成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B14C0F-1D1E-4CFA-B8B5-32CEF8B7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66950"/>
            <a:ext cx="46863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○ 真实参与者可用性试点</a:t>
            </a:r>
          </a:p>
          <a:p xmlns:a="http://schemas.openxmlformats.org/drawingml/2006/main">
            <a:pPr algn="l">
              <a:defRPr sz="15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○ 另一台干净电脑安装验收</a:t>
            </a:r>
          </a:p>
          <a:p xmlns:a="http://schemas.openxmlformats.org/drawingml/2006/main">
            <a:pPr algn="l">
              <a:defRPr sz="15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○ 3–5 分钟真人演示视频</a:t>
            </a:r>
          </a:p>
          <a:p xmlns:a="http://schemas.openxmlformats.org/drawingml/2006/main">
            <a:pPr algn="l">
              <a:defRPr sz="15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○ 盖章、签字与竞赛平台提交</a:t>
            </a:r>
          </a:p>
          <a:p xmlns:a="http://schemas.openxmlformats.org/drawingml/2006/main">
            <a:pPr algn="l">
              <a:defRPr sz="15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○ 最终平台信息与网盘链接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55158E-F508-4AF8-A597-34BFB5BC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687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F294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2942"/>
                </a:solidFill>
                <a:latin typeface="Arial"/>
                <a:ea typeface="Arial"/>
                <a:cs typeface="Arial"/>
              </a:rPr>
              <a:t>不把合成数据写成真人数据，不把导办写成审批，不把内部评测写成第三方认证。</a:t>
            </a:r>
          </a:p>
        </p:txBody>
      </p:sp>
    </p:spTree>
    <p:extLst>
      <p:ext uri="{BB962C8B-B14F-4D97-AF65-F5344CB8AC3E}">
        <p14:creationId xmlns:p14="http://schemas.microsoft.com/office/powerpoint/2010/main" val="180914407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A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0099F7-9270-4800-B161-58D93AF6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068AD9-0859-48D9-85F5-0692CAC1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1050"/>
            <a:ext cx="428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92E6D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92E6D8"/>
                </a:solidFill>
                <a:latin typeface="Arial"/>
                <a:ea typeface="Arial"/>
                <a:cs typeface="Arial"/>
              </a:rPr>
              <a:t>惠民智导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B72E06-6C27-4A93-90F2-EBC026F6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8858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把高风险政策智能做成</a:t>
            </a:r>
          </a:p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可追溯、可拒答、可回归的软件。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F93BB6-15A3-4169-B9B0-BDEFEC6E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433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2E6D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2E6D8"/>
                </a:solidFill>
                <a:latin typeface="Arial"/>
                <a:ea typeface="Arial"/>
                <a:cs typeface="Arial"/>
              </a:rPr>
              <a:t>技术主张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089C3E-E031-413F-A54C-1E0326FB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2435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7C7D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7C7D4"/>
                </a:solidFill>
                <a:latin typeface="Arial"/>
                <a:ea typeface="Arial"/>
                <a:cs typeface="Arial"/>
              </a:rPr>
              <a:t>受约束神经符号架构  /  时态规则  /  三值逻辑  /  原文证据链  /  人工发布门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19C372-C15A-40C6-AF6F-92AFC3C6E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24500"/>
            <a:ext cx="2381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19050" rIns="952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现在进入系统演示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F3D10A-305E-4249-BF2C-72368CDA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4864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谢谢</a:t>
            </a:r>
          </a:p>
        </p:txBody>
      </p:sp>
    </p:spTree>
    <p:extLst>
      <p:ext uri="{BB962C8B-B14F-4D97-AF65-F5344CB8AC3E}">
        <p14:creationId xmlns:p14="http://schemas.microsoft.com/office/powerpoint/2010/main" val="5258269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2026-10-02T20:51:19.8680000Z</dcterms:created>
  <dcterms:modified xsi:type="dcterms:W3CDTF">2026-10-02T20:51:19.8680000Z</dcterms:modified>
</coreProperties>
</file>